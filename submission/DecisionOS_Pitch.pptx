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89a67c213e84338" /><Relationship Type="http://schemas.openxmlformats.org/officeDocument/2006/relationships/extended-properties" Target="/docProps/app.xml" Id="Re2d132d627a4473f" /><Relationship Type="http://schemas.openxmlformats.org/officeDocument/2006/relationships/officeDocument" Target="/ppt/presentation.xml" Id="Rdc9424a3f210465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b47fcfc416a46b5"/>
  </p:sldMasterIdLst>
  <p:notesMasterIdLst>
    <p:notesMasterId xmlns:r="http://schemas.openxmlformats.org/officeDocument/2006/relationships" r:id="R576e5ff9f71643a0"/>
  </p:notesMasterIdLst>
  <p:sldIdLst>
    <p:sldId xmlns:r="http://schemas.openxmlformats.org/officeDocument/2006/relationships" id="256" r:id="Ra4e137bc97fa4128"/>
    <p:sldId xmlns:r="http://schemas.openxmlformats.org/officeDocument/2006/relationships" id="257" r:id="R3ae1a3b427304281"/>
    <p:sldId xmlns:r="http://schemas.openxmlformats.org/officeDocument/2006/relationships" id="258" r:id="R517947722a644400"/>
    <p:sldId xmlns:r="http://schemas.openxmlformats.org/officeDocument/2006/relationships" id="259" r:id="R83ae0cb29a094bbf"/>
    <p:sldId xmlns:r="http://schemas.openxmlformats.org/officeDocument/2006/relationships" id="260" r:id="R1448ad9239dc4459"/>
    <p:sldId xmlns:r="http://schemas.openxmlformats.org/officeDocument/2006/relationships" id="261" r:id="R6f9a4e240c0a469b"/>
    <p:sldId xmlns:r="http://schemas.openxmlformats.org/officeDocument/2006/relationships" id="262" r:id="R3ec14429f42247a3"/>
    <p:sldId xmlns:r="http://schemas.openxmlformats.org/officeDocument/2006/relationships" id="263" r:id="Re0ae3eceff184e75"/>
    <p:sldId xmlns:r="http://schemas.openxmlformats.org/officeDocument/2006/relationships" id="264" r:id="Rcb4f5189733948dd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61e1dbe16be4f89" /><Relationship Type="http://schemas.openxmlformats.org/officeDocument/2006/relationships/slideMaster" Target="/ppt/slideMasters/slideMaster1.xml" Id="Rfb47fcfc416a46b5" /><Relationship Type="http://schemas.openxmlformats.org/officeDocument/2006/relationships/notesMaster" Target="/ppt/notesMasters/notesMaster1.xml" Id="R576e5ff9f71643a0" /><Relationship Type="http://schemas.openxmlformats.org/officeDocument/2006/relationships/presProps" Target="/ppt/presProps.xml" Id="Re0e820b2cb6444d4" /><Relationship Type="http://schemas.openxmlformats.org/officeDocument/2006/relationships/tableStyles" Target="/ppt/tableStyles.xml" Id="Rb8ac5555f97f48e5" /><Relationship Type="http://schemas.openxmlformats.org/officeDocument/2006/relationships/slide" Target="/ppt/slides/slide1.xml" Id="Ra4e137bc97fa4128" /><Relationship Type="http://schemas.openxmlformats.org/officeDocument/2006/relationships/slide" Target="/ppt/slides/slide2.xml" Id="R3ae1a3b427304281" /><Relationship Type="http://schemas.openxmlformats.org/officeDocument/2006/relationships/slide" Target="/ppt/slides/slide3.xml" Id="R517947722a644400" /><Relationship Type="http://schemas.openxmlformats.org/officeDocument/2006/relationships/slide" Target="/ppt/slides/slide4.xml" Id="R83ae0cb29a094bbf" /><Relationship Type="http://schemas.openxmlformats.org/officeDocument/2006/relationships/slide" Target="/ppt/slides/slide5.xml" Id="R1448ad9239dc4459" /><Relationship Type="http://schemas.openxmlformats.org/officeDocument/2006/relationships/slide" Target="/ppt/slides/slide6.xml" Id="R6f9a4e240c0a469b" /><Relationship Type="http://schemas.openxmlformats.org/officeDocument/2006/relationships/slide" Target="/ppt/slides/slide7.xml" Id="R3ec14429f42247a3" /><Relationship Type="http://schemas.openxmlformats.org/officeDocument/2006/relationships/slide" Target="/ppt/slides/slide8.xml" Id="Re0ae3eceff184e75" /><Relationship Type="http://schemas.openxmlformats.org/officeDocument/2006/relationships/slide" Target="/ppt/slides/slide9.xml" Id="Rcb4f5189733948d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891266ccde142e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b8125dc1f954f3a" /><Relationship Type="http://schemas.openxmlformats.org/officeDocument/2006/relationships/notesMaster" Target="/ppt/notesMasters/notesMaster1.xml" Id="Rfee3859ce916447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25d17b75f374982" /><Relationship Type="http://schemas.openxmlformats.org/officeDocument/2006/relationships/notesMaster" Target="/ppt/notesMasters/notesMaster1.xml" Id="R77a2cea1708c4fd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0fbb15d40e4443d" /><Relationship Type="http://schemas.openxmlformats.org/officeDocument/2006/relationships/notesMaster" Target="/ppt/notesMasters/notesMaster1.xml" Id="R8ce0a515429f4a7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77e3cbf60d714384" /><Relationship Type="http://schemas.openxmlformats.org/officeDocument/2006/relationships/notesMaster" Target="/ppt/notesMasters/notesMaster1.xml" Id="Rf18d05d54b084c8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941ae3568a34173" /><Relationship Type="http://schemas.openxmlformats.org/officeDocument/2006/relationships/notesMaster" Target="/ppt/notesMasters/notesMaster1.xml" Id="R9e9f52e91a64400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f6bac235ea04485" /><Relationship Type="http://schemas.openxmlformats.org/officeDocument/2006/relationships/notesMaster" Target="/ppt/notesMasters/notesMaster1.xml" Id="R8907ed7c4ae24f05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ca9577abf4484972" /><Relationship Type="http://schemas.openxmlformats.org/officeDocument/2006/relationships/notesMaster" Target="/ppt/notesMasters/notesMaster1.xml" Id="R84251fde145d435d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ad5d7a91b9714ad8" /><Relationship Type="http://schemas.openxmlformats.org/officeDocument/2006/relationships/notesMaster" Target="/ppt/notesMasters/notesMaster1.xml" Id="R919d7f7c25e94f56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5fc1936ed6a3450a" /><Relationship Type="http://schemas.openxmlformats.org/officeDocument/2006/relationships/notesMaster" Target="/ppt/notesMasters/notesMaster1.xml" Id="R612ae07a67c6404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Working synthetic prototype. Product/build direction supplied by the user; substantial code and documentation assisted by Codex. Team details and declarations require confirmation. No live Orbyte API or genuine MiroFish simulation is claimed.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Problem hypothesis from Domain 2 brief and the supplied synthetic cafe scenario. No SME field study. Screenshot: original app, docs/screenshots/mobile-operations.jpg.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backend/services/rules.py and seed.py. Exact quote arithmetic for 60 litres. Delivery and daily usage are assumptions. RM90 is a premium, not savings.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API/procurement service and native browser verification in docs/TESTING.md. Simulated roles. No external order or payment. Deterministic comparison independent of MiroFish.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Original evidence: docs/screenshots/purchase-draft-audit.jpg. Synthetic decision 3a714d27; Supplier B RM660; PO FD30EC6B. Reload and server restart preserved it. Actual software screenshot, not a mock-up.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docs/ARCHITECTURE.md, API.md and https://github.com/666ghj/MiroFish/tree/7657031ac01184afe2cb220f5ee3545573b5e843 . Original HTTP adapter; no upstream code bundled. Editable diagram.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scenarios.py and docs/MIROFISH.md. Social-agent environments adapted to fictional business perspectives. Upstream environment installed; credential preflight stops without keys. No genuine report, live latency or token totals.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UN source: https://sdgs.un.org/goals/goal8 . 8.2: productivity through technology; 8.3: SME development. Numbers are planning assumptions/targets, not measured results. Source: docs/BENEFITS.md.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33 backend and 3 component tests passed; typecheck/build passed. Native browser workflow checked. Playwright fails before Chromium launch due to macOS sandbox. No CI pass claim. Replit, team declarations, remote publication pending. User will record video.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17e18a45a444a9a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d5b7074a11445a0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cfb66b87d37454c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6a7481ebefd4086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77cec843f9d4c87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71a0abfb2754666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926AC5BC-5FCD-44B2-851E-A23D86A8080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F83E5F0A-88BB-404C-AC2B-A16B1556DE8B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2171EE84-2C9D-458B-BF4E-421F19F8F2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D8056AB6-0614-465E-8447-40B54D73F87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C3F4AAB6-9BF7-4B61-A9C7-CA6BA480FFA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422979A8-1F06-48AC-9675-13359C9BABB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1A581B46-879B-4700-AC99-BEA524DD1D0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DF338E45-F58A-4ECF-8F75-95B63A61DBB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9C31EC38-3A07-46C2-BC6A-7C2BF79247A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D3CD2A73-42A5-493A-B68C-43BE3DDB6F7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2b7ad60bb8c4539" /><Relationship Type="http://schemas.openxmlformats.org/officeDocument/2006/relationships/slideLayout" Target="/ppt/slideLayouts/slideLayout1.xml" Id="Rd3f48f5e40264161" /><Relationship Type="http://schemas.openxmlformats.org/officeDocument/2006/relationships/slideLayout" Target="/ppt/slideLayouts/slideLayout2.xml" Id="Rf6259ea3e23a496b" /><Relationship Type="http://schemas.openxmlformats.org/officeDocument/2006/relationships/slideLayout" Target="/ppt/slideLayouts/slideLayout3.xml" Id="R3619a110db3d4201" /><Relationship Type="http://schemas.openxmlformats.org/officeDocument/2006/relationships/slideLayout" Target="/ppt/slideLayouts/slideLayout4.xml" Id="R426edc550f204ba1" /><Relationship Type="http://schemas.openxmlformats.org/officeDocument/2006/relationships/slideLayout" Target="/ppt/slideLayouts/slideLayout5.xml" Id="R5612727da0d64c4f" /><Relationship Type="http://schemas.openxmlformats.org/officeDocument/2006/relationships/slideLayout" Target="/ppt/slideLayouts/slideLayout6.xml" Id="R99bc895534494030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3f48f5e40264161"/>
    <p:sldLayoutId xmlns:r="http://schemas.openxmlformats.org/officeDocument/2006/relationships" id="2147483650" r:id="Rf6259ea3e23a496b"/>
    <p:sldLayoutId xmlns:r="http://schemas.openxmlformats.org/officeDocument/2006/relationships" id="2147483651" r:id="R3619a110db3d4201"/>
    <p:sldLayoutId xmlns:r="http://schemas.openxmlformats.org/officeDocument/2006/relationships" id="2147483652" r:id="R426edc550f204ba1"/>
    <p:sldLayoutId xmlns:r="http://schemas.openxmlformats.org/officeDocument/2006/relationships" id="2147483653" r:id="R5612727da0d64c4f"/>
    <p:sldLayoutId xmlns:r="http://schemas.openxmlformats.org/officeDocument/2006/relationships" id="2147483654" r:id="R99bc89553449403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fac63bcb59e4bdd" /><Relationship Type="http://schemas.openxmlformats.org/officeDocument/2006/relationships/notesSlide" Target="/ppt/notesSlides/notesSlide1.xml" Id="Rd4c1b4ab8cad4a3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330b0a1af174a8c" /><Relationship Type="http://schemas.openxmlformats.org/officeDocument/2006/relationships/image" Target="/ppt/media/image.jpeg" Id="R21f1cc8ca1104bc2" /><Relationship Type="http://schemas.openxmlformats.org/officeDocument/2006/relationships/notesSlide" Target="/ppt/notesSlides/notesSlide2.xml" Id="R603538fccd434a2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324a8324858496d" /><Relationship Type="http://schemas.openxmlformats.org/officeDocument/2006/relationships/notesSlide" Target="/ppt/notesSlides/notesSlide3.xml" Id="Rfb9eb2d8d3f74f1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2bdff6855ab4b76" /><Relationship Type="http://schemas.openxmlformats.org/officeDocument/2006/relationships/notesSlide" Target="/ppt/notesSlides/notesSlide4.xml" Id="R5918fcaa8b774d0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9cbc0bdfb264cf9" /><Relationship Type="http://schemas.openxmlformats.org/officeDocument/2006/relationships/image" Target="/ppt/media/image2.jpeg" Id="R460194326e624ff3" /><Relationship Type="http://schemas.openxmlformats.org/officeDocument/2006/relationships/notesSlide" Target="/ppt/notesSlides/notesSlide5.xml" Id="Rb909f1e2e485460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9794260f9df4e9d" /><Relationship Type="http://schemas.openxmlformats.org/officeDocument/2006/relationships/notesSlide" Target="/ppt/notesSlides/notesSlide6.xml" Id="Rb5da8ef90cf94ef7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1b7f9f2a428427e" /><Relationship Type="http://schemas.openxmlformats.org/officeDocument/2006/relationships/notesSlide" Target="/ppt/notesSlides/notesSlide7.xml" Id="Rd7ac41e45bfa4cc7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0382a06422045af" /><Relationship Type="http://schemas.openxmlformats.org/officeDocument/2006/relationships/notesSlide" Target="/ppt/notesSlides/notesSlide8.xml" Id="R6d3ca600fc2a444f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b515518890340db" /><Relationship Type="http://schemas.openxmlformats.org/officeDocument/2006/relationships/notesSlide" Target="/ppt/notesSlides/notesSlide9.xml" Id="Re6d18bace76f4ef0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245F4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C3DC16A-0BDE-4B0E-BCDE-785008B5F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00125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6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6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1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Orbyte</a:t>
            </a:r>
          </a:p>
          <a:p xmlns:a="http://schemas.openxmlformats.org/drawingml/2006/main">
            <a:pPr>
              <a:defRPr sz="6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1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DecisionOS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04EBC74-3BF2-4F0A-8051-A320F1BAD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00500"/>
            <a:ext cx="10287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550" b="0">
                <a:solidFill>
                  <a:srgbClr val="EDF2D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550" b="0">
                <a:solidFill>
                  <a:srgbClr val="EDF2DF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EDF2DF"/>
                </a:solidFill>
                <a:latin typeface="Arial"/>
                <a:ea typeface="Arial"/>
                <a:cs typeface="Arial"/>
              </a:rPr>
              <a:t>Owner-controlled procurement for Malaysian SMEs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CC81D4B-BE61-48E4-B38D-2A0DB4656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753100"/>
            <a:ext cx="10287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DAE6D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DAE6D2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DAE6D2"/>
                </a:solidFill>
                <a:latin typeface="Arial"/>
                <a:ea typeface="Arial"/>
                <a:cs typeface="Arial"/>
              </a:rPr>
              <a:t>Domain 2 · Orbyte Smart SME Challenge · SDG 8</a:t>
            </a:r>
          </a:p>
        </p:txBody>
      </p:sp>
    </p:spTree>
    <p:extLst>
      <p:ext uri="{BB962C8B-B14F-4D97-AF65-F5344CB8AC3E}">
        <p14:creationId xmlns:p14="http://schemas.microsoft.com/office/powerpoint/2010/main" val="205782764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6F7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3094557-938E-4FD1-BAFE-877B56292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09728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225" b="1">
                <a:solidFill>
                  <a:srgbClr val="203B2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225" b="1">
                <a:solidFill>
                  <a:srgbClr val="203B2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203B2F"/>
                </a:solidFill>
                <a:latin typeface="Arial"/>
                <a:ea typeface="Arial"/>
                <a:cs typeface="Arial"/>
              </a:rPr>
              <a:t>The daily procurement decision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F520D51-4FC4-478D-8197-29C763A89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6667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5700" b="1">
                <a:solidFill>
                  <a:srgbClr val="245F4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5700" b="1">
                <a:solidFill>
                  <a:srgbClr val="245F48"/>
                </a:solidFill>
                <a:latin typeface="Arial"/>
                <a:ea typeface="Arial"/>
                <a:cs typeface="Arial"/>
              </a:defRPr>
            </a:pPr>
            <a:r>
              <a:rPr sz="5700" b="1">
                <a:solidFill>
                  <a:srgbClr val="245F48"/>
                </a:solidFill>
                <a:latin typeface="Arial"/>
                <a:ea typeface="Arial"/>
                <a:cs typeface="Arial"/>
              </a:rPr>
              <a:t>1.5 days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D06225A-C865-41F1-958B-01B9DB62F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2667000"/>
            <a:ext cx="6667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203B2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203B2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03B2F"/>
                </a:solidFill>
                <a:latin typeface="Arial"/>
                <a:ea typeface="Arial"/>
                <a:cs typeface="Arial"/>
              </a:rPr>
              <a:t>of milk coverage in the reference case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7B7505E-D6E2-4ECE-A2FA-010D09555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3667125"/>
            <a:ext cx="66675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550" b="0">
                <a:solidFill>
                  <a:srgbClr val="203B2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550" b="0">
                <a:solidFill>
                  <a:srgbClr val="203B2F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203B2F"/>
                </a:solidFill>
                <a:latin typeface="Arial"/>
                <a:ea typeface="Arial"/>
                <a:cs typeface="Arial"/>
              </a:rPr>
              <a:t>Owners must compare cost with delivery timing, then record a decision they can explain.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E5D4CF9-7C9C-4DC4-9E7D-D25372D17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5667375"/>
            <a:ext cx="666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58685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58685E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58685E"/>
                </a:solidFill>
                <a:latin typeface="Arial"/>
                <a:ea typeface="Arial"/>
                <a:cs typeface="Arial"/>
              </a:rPr>
              <a:t>18 litres in stock ÷ 12 litres/day</a:t>
            </a:r>
          </a:p>
          <a:p xmlns:a="http://schemas.openxmlformats.org/drawingml/2006/main">
            <a:pPr>
              <a:defRPr sz="1725" b="0">
                <a:solidFill>
                  <a:srgbClr val="58685E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58685E"/>
                </a:solidFill>
                <a:latin typeface="Arial"/>
                <a:ea typeface="Arial"/>
                <a:cs typeface="Arial"/>
              </a:rPr>
              <a:t>All records are synthetic</a:t>
            </a:r>
          </a:p>
        </p:txBody>
      </p:sp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64AC47E-5374-46C7-9400-7A9328BE8DC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1f1cc8ca1104bc2"/>
          <a:stretch xmlns:a="http://schemas.openxmlformats.org/drawingml/2006/main"/>
        </p:blipFill>
        <p:spPr>
          <a:xfrm xmlns:a="http://schemas.openxmlformats.org/drawingml/2006/main">
            <a:off x="8681680" y="1333500"/>
            <a:ext cx="2353391" cy="509587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05822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6F7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E76463F-DECD-44CB-9162-6538802E1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09728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225" b="1">
                <a:solidFill>
                  <a:srgbClr val="203B2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225" b="1">
                <a:solidFill>
                  <a:srgbClr val="203B2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203B2F"/>
                </a:solidFill>
                <a:latin typeface="Arial"/>
                <a:ea typeface="Arial"/>
                <a:cs typeface="Arial"/>
              </a:rPr>
              <a:t>The cheaper quote arrives later</a:t>
            </a:r>
          </a:p>
        </p:txBody>
      </p:sp>
      <p:graphicFrame>
        <p:nvGraphicFrame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A2583B2-D14C-4265-B76F-FA2BC3C78D39}"/>
              </a:ext>
            </a:extLst>
          </p:cNvPr>
          <p:cNvGraphicFramePr/>
          <p:nvPr/>
        </p:nvGraphicFramePr>
        <p:xfrm>
          <a:off xmlns:a="http://schemas.openxmlformats.org/drawingml/2006/main" x="609600" y="1619250"/>
          <a:ext xmlns:a="http://schemas.openxmlformats.org/drawingml/2006/main" cx="10972800" cy="31432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381500"/>
                <a:gridCol w="3295650"/>
                <a:gridCol w="3295650"/>
              </a:tblGrid>
              <a:tr h="628650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For 60 litres</a:t>
                      </a:r>
                    </a:p>
                  </a:txBody>
                  <a:tcPr marL="91440" marR="91440" marT="45720" marB="45720">
                    <a:solidFill>
                      <a:srgbClr val="245F4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Supplier A</a:t>
                      </a:r>
                    </a:p>
                  </a:txBody>
                  <a:tcPr marL="91440" marR="91440" marT="45720" marB="45720">
                    <a:solidFill>
                      <a:srgbClr val="245F4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Supplier B</a:t>
                      </a:r>
                    </a:p>
                  </a:txBody>
                  <a:tcPr marL="91440" marR="91440" marT="45720" marB="45720">
                    <a:solidFill>
                      <a:srgbClr val="245F48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203B2F"/>
                          </a:solidFill>
                          <a:latin typeface="Arial"/>
                          <a:ea typeface="Arial"/>
                          <a:cs typeface="Arial"/>
                        </a:rPr>
                        <a:t>Unit price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03B2F"/>
                          </a:solidFill>
                          <a:latin typeface="Arial"/>
                          <a:ea typeface="Arial"/>
                          <a:cs typeface="Arial"/>
                        </a:rPr>
                        <a:t>RM9.50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03B2F"/>
                          </a:solidFill>
                          <a:latin typeface="Arial"/>
                          <a:ea typeface="Arial"/>
                          <a:cs typeface="Arial"/>
                        </a:rPr>
                        <a:t>RM11.00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203B2F"/>
                          </a:solidFill>
                          <a:latin typeface="Arial"/>
                          <a:ea typeface="Arial"/>
                          <a:cs typeface="Arial"/>
                        </a:rPr>
                        <a:t>Quoted total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03B2F"/>
                          </a:solidFill>
                          <a:latin typeface="Arial"/>
                          <a:ea typeface="Arial"/>
                          <a:cs typeface="Arial"/>
                        </a:rPr>
                        <a:t>RM570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03B2F"/>
                          </a:solidFill>
                          <a:latin typeface="Arial"/>
                          <a:ea typeface="Arial"/>
                          <a:cs typeface="Arial"/>
                        </a:rPr>
                        <a:t>RM660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203B2F"/>
                          </a:solidFill>
                          <a:latin typeface="Arial"/>
                          <a:ea typeface="Arial"/>
                          <a:cs typeface="Arial"/>
                        </a:rPr>
                        <a:t>Estimated delivery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03B2F"/>
                          </a:solidFill>
                          <a:latin typeface="Arial"/>
                          <a:ea typeface="Arial"/>
                          <a:cs typeface="Arial"/>
                        </a:rPr>
                        <a:t>4 days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03B2F"/>
                          </a:solidFill>
                          <a:latin typeface="Arial"/>
                          <a:ea typeface="Arial"/>
                          <a:cs typeface="Arial"/>
                        </a:rPr>
                        <a:t>1 day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203B2F"/>
                          </a:solidFill>
                          <a:latin typeface="Arial"/>
                          <a:ea typeface="Arial"/>
                          <a:cs typeface="Arial"/>
                        </a:rPr>
                        <a:t>Arrival vs. stock coverage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03B2F"/>
                          </a:solidFill>
                          <a:latin typeface="Arial"/>
                          <a:ea typeface="Arial"/>
                          <a:cs typeface="Arial"/>
                        </a:rPr>
                        <a:t>2.5 days after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03B2F"/>
                          </a:solidFill>
                          <a:latin typeface="Arial"/>
                          <a:ea typeface="Arial"/>
                          <a:cs typeface="Arial"/>
                        </a:rPr>
                        <a:t>0.5 days before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90DD2EC-3220-4742-93A9-53F50F836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91125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625" b="1">
                <a:solidFill>
                  <a:srgbClr val="245F4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625" b="1">
                <a:solidFill>
                  <a:srgbClr val="245F48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245F48"/>
                </a:solidFill>
                <a:latin typeface="Arial"/>
                <a:ea typeface="Arial"/>
                <a:cs typeface="Arial"/>
              </a:rPr>
              <a:t>RM90 premium for earlier estimated delivery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6C2243A-D123-4FC2-B697-5E6A8DD75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91225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58685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58685E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58685E"/>
                </a:solidFill>
                <a:latin typeface="Arial"/>
                <a:ea typeface="Arial"/>
                <a:cs typeface="Arial"/>
              </a:rPr>
              <a:t>Owner decides. Shipping, tax, spoilage and delivery guarantees are not provided.</a:t>
            </a:r>
          </a:p>
        </p:txBody>
      </p:sp>
    </p:spTree>
    <p:extLst>
      <p:ext uri="{BB962C8B-B14F-4D97-AF65-F5344CB8AC3E}">
        <p14:creationId xmlns:p14="http://schemas.microsoft.com/office/powerpoint/2010/main" val="82797069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6F7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783111E-17C7-4E39-B295-376F7D825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09728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225" b="1">
                <a:solidFill>
                  <a:srgbClr val="203B2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225" b="1">
                <a:solidFill>
                  <a:srgbClr val="203B2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203B2F"/>
                </a:solidFill>
                <a:latin typeface="Arial"/>
                <a:ea typeface="Arial"/>
                <a:cs typeface="Arial"/>
              </a:rPr>
              <a:t>A complete approval journey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62748BB-4F24-452F-B071-04B5164D6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76375"/>
            <a:ext cx="762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625" b="1">
                <a:solidFill>
                  <a:srgbClr val="245F4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625" b="1">
                <a:solidFill>
                  <a:srgbClr val="245F48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245F48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3CCBE0C-8F03-485C-A129-E5FEBBCF9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1476375"/>
            <a:ext cx="21431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325" b="1">
                <a:solidFill>
                  <a:srgbClr val="203B2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325" b="1">
                <a:solidFill>
                  <a:srgbClr val="203B2F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203B2F"/>
                </a:solidFill>
                <a:latin typeface="Arial"/>
                <a:ea typeface="Arial"/>
                <a:cs typeface="Arial"/>
              </a:rPr>
              <a:t>Trigger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A063ADB-E00C-4CED-ABA5-46DE2A1E1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1476375"/>
            <a:ext cx="7572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203B2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203B2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03B2F"/>
                </a:solidFill>
                <a:latin typeface="Arial"/>
                <a:ea typeface="Arial"/>
                <a:cs typeface="Arial"/>
              </a:rPr>
              <a:t>Run the inventory check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6145796-860D-4404-BD2E-3B9F1D765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90775"/>
            <a:ext cx="762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625" b="1">
                <a:solidFill>
                  <a:srgbClr val="245F4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625" b="1">
                <a:solidFill>
                  <a:srgbClr val="245F48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245F48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A6414FC-BE07-4582-8C36-A9191612D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2390775"/>
            <a:ext cx="21431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325" b="1">
                <a:solidFill>
                  <a:srgbClr val="203B2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325" b="1">
                <a:solidFill>
                  <a:srgbClr val="203B2F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203B2F"/>
                </a:solidFill>
                <a:latin typeface="Arial"/>
                <a:ea typeface="Arial"/>
                <a:cs typeface="Arial"/>
              </a:rPr>
              <a:t>Connect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B0B6647-04E9-468E-AD42-133B1B825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2390775"/>
            <a:ext cx="7572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203B2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203B2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03B2F"/>
                </a:solidFill>
                <a:latin typeface="Arial"/>
                <a:ea typeface="Arial"/>
                <a:cs typeface="Arial"/>
              </a:rPr>
              <a:t>Read stock and supplier quotes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46EF876-7F6E-468E-9734-9D7603F80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05175"/>
            <a:ext cx="762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625" b="1">
                <a:solidFill>
                  <a:srgbClr val="245F4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625" b="1">
                <a:solidFill>
                  <a:srgbClr val="245F48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245F48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6514A20-5D5E-498E-94B4-A9202F787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3305175"/>
            <a:ext cx="21431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325" b="1">
                <a:solidFill>
                  <a:srgbClr val="203B2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325" b="1">
                <a:solidFill>
                  <a:srgbClr val="203B2F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203B2F"/>
                </a:solidFill>
                <a:latin typeface="Arial"/>
                <a:ea typeface="Arial"/>
                <a:cs typeface="Arial"/>
              </a:rPr>
              <a:t>Evaluate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1388845-4556-4E8E-98B1-E40A19E87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3305175"/>
            <a:ext cx="7572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203B2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203B2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03B2F"/>
                </a:solidFill>
                <a:latin typeface="Arial"/>
                <a:ea typeface="Arial"/>
                <a:cs typeface="Arial"/>
              </a:rPr>
              <a:t>Calculate coverage, cost and risk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CE88805-AC94-44D3-ADC9-59EEEE16D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19575"/>
            <a:ext cx="762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625" b="1">
                <a:solidFill>
                  <a:srgbClr val="245F4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625" b="1">
                <a:solidFill>
                  <a:srgbClr val="245F48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245F48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2A330B2-F01E-41BF-AAEE-FCF0ACF69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4219575"/>
            <a:ext cx="21431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325" b="1">
                <a:solidFill>
                  <a:srgbClr val="203B2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325" b="1">
                <a:solidFill>
                  <a:srgbClr val="203B2F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203B2F"/>
                </a:solidFill>
                <a:latin typeface="Arial"/>
                <a:ea typeface="Arial"/>
                <a:cs typeface="Arial"/>
              </a:rPr>
              <a:t>Approve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889EFD9-1EEC-4B8E-8172-C494635E7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4219575"/>
            <a:ext cx="7572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203B2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203B2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03B2F"/>
                </a:solidFill>
                <a:latin typeface="Arial"/>
                <a:ea typeface="Arial"/>
                <a:cs typeface="Arial"/>
              </a:rPr>
              <a:t>Owner selects an option and reason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D648927-707F-492D-B4F0-CCCB6F105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33975"/>
            <a:ext cx="762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625" b="1">
                <a:solidFill>
                  <a:srgbClr val="245F4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625" b="1">
                <a:solidFill>
                  <a:srgbClr val="245F48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245F48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5826807-FE2B-4285-BBD1-757B19CB9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5133975"/>
            <a:ext cx="21431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325" b="1">
                <a:solidFill>
                  <a:srgbClr val="203B2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325" b="1">
                <a:solidFill>
                  <a:srgbClr val="203B2F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203B2F"/>
                </a:solidFill>
                <a:latin typeface="Arial"/>
                <a:ea typeface="Arial"/>
                <a:cs typeface="Arial"/>
              </a:rPr>
              <a:t>Record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6D8EC76-2379-4AD1-8EA4-6D6D74333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5133975"/>
            <a:ext cx="7572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203B2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203B2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03B2F"/>
                </a:solidFill>
                <a:latin typeface="Arial"/>
                <a:ea typeface="Arial"/>
                <a:cs typeface="Arial"/>
              </a:rPr>
              <a:t>Save a draft and persistent audit</a:t>
            </a:r>
          </a:p>
        </p:txBody>
      </p:sp>
    </p:spTree>
    <p:extLst>
      <p:ext uri="{BB962C8B-B14F-4D97-AF65-F5344CB8AC3E}">
        <p14:creationId xmlns:p14="http://schemas.microsoft.com/office/powerpoint/2010/main" val="35499426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6F7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545191E-6F38-426F-9B7B-60C592C7C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09728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225" b="1">
                <a:solidFill>
                  <a:srgbClr val="203B2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225" b="1">
                <a:solidFill>
                  <a:srgbClr val="203B2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203B2F"/>
                </a:solidFill>
                <a:latin typeface="Arial"/>
                <a:ea typeface="Arial"/>
                <a:cs typeface="Arial"/>
              </a:rPr>
              <a:t>A visible, persistent outcome</a:t>
            </a:r>
          </a:p>
        </p:txBody>
      </p:sp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527330F-EB69-46E9-9EAB-3DCE0893225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60194326e624ff3"/>
          <a:stretch xmlns:a="http://schemas.openxmlformats.org/drawingml/2006/main"/>
        </p:blipFill>
        <p:spPr>
          <a:xfrm xmlns:a="http://schemas.openxmlformats.org/drawingml/2006/main">
            <a:off x="2329873" y="1285875"/>
            <a:ext cx="7513205" cy="52197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448519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6F7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16AD6C7-E116-463D-A093-DDC964933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09728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225" b="1">
                <a:solidFill>
                  <a:srgbClr val="203B2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225" b="1">
                <a:solidFill>
                  <a:srgbClr val="203B2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203B2F"/>
                </a:solidFill>
                <a:latin typeface="Arial"/>
                <a:ea typeface="Arial"/>
                <a:cs typeface="Arial"/>
              </a:rPr>
              <a:t>Architecture and the Orbyte boundary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645340B-CABD-4D64-BF88-30836E917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24000"/>
            <a:ext cx="5715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245F4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245F48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245F48"/>
                </a:solidFill>
                <a:latin typeface="Arial"/>
                <a:ea typeface="Arial"/>
                <a:cs typeface="Arial"/>
              </a:rPr>
              <a:t>Operational path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2D61CAE-0E2A-40F7-868F-C1F6BF5B3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90750"/>
            <a:ext cx="6191250" cy="3476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203B2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203B2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03B2F"/>
                </a:solidFill>
                <a:latin typeface="Arial"/>
                <a:ea typeface="Arial"/>
                <a:cs typeface="Arial"/>
              </a:rPr>
              <a:t>Next.js interface</a:t>
            </a:r>
          </a:p>
          <a:p xmlns:a="http://schemas.openxmlformats.org/drawingml/2006/main">
            <a:pPr>
              <a:defRPr sz="2175" b="0">
                <a:solidFill>
                  <a:srgbClr val="203B2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03B2F"/>
                </a:solidFill>
                <a:latin typeface="Arial"/>
                <a:ea typeface="Arial"/>
                <a:cs typeface="Arial"/>
              </a:rPr>
              <a:t>↓</a:t>
            </a:r>
          </a:p>
          <a:p xmlns:a="http://schemas.openxmlformats.org/drawingml/2006/main">
            <a:pPr>
              <a:defRPr sz="2175" b="0">
                <a:solidFill>
                  <a:srgbClr val="203B2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03B2F"/>
                </a:solidFill>
                <a:latin typeface="Arial"/>
                <a:ea typeface="Arial"/>
                <a:cs typeface="Arial"/>
              </a:rPr>
              <a:t>FastAPI + deterministic rules</a:t>
            </a:r>
          </a:p>
          <a:p xmlns:a="http://schemas.openxmlformats.org/drawingml/2006/main">
            <a:pPr>
              <a:defRPr sz="2175" b="0">
                <a:solidFill>
                  <a:srgbClr val="203B2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03B2F"/>
                </a:solidFill>
                <a:latin typeface="Arial"/>
                <a:ea typeface="Arial"/>
                <a:cs typeface="Arial"/>
              </a:rPr>
              <a:t>↓</a:t>
            </a:r>
          </a:p>
          <a:p xmlns:a="http://schemas.openxmlformats.org/drawingml/2006/main">
            <a:pPr>
              <a:defRPr sz="2175" b="0">
                <a:solidFill>
                  <a:srgbClr val="203B2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03B2F"/>
                </a:solidFill>
                <a:latin typeface="Arial"/>
                <a:ea typeface="Arial"/>
                <a:cs typeface="Arial"/>
              </a:rPr>
              <a:t>Owner approval transaction</a:t>
            </a:r>
          </a:p>
          <a:p xmlns:a="http://schemas.openxmlformats.org/drawingml/2006/main">
            <a:pPr>
              <a:defRPr sz="2175" b="0">
                <a:solidFill>
                  <a:srgbClr val="203B2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03B2F"/>
                </a:solidFill>
                <a:latin typeface="Arial"/>
                <a:ea typeface="Arial"/>
                <a:cs typeface="Arial"/>
              </a:rPr>
              <a:t>↓</a:t>
            </a:r>
          </a:p>
          <a:p xmlns:a="http://schemas.openxmlformats.org/drawingml/2006/main">
            <a:pPr>
              <a:defRPr sz="2175" b="0">
                <a:solidFill>
                  <a:srgbClr val="203B2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03B2F"/>
                </a:solidFill>
                <a:latin typeface="Arial"/>
                <a:ea typeface="Arial"/>
                <a:cs typeface="Arial"/>
              </a:rPr>
              <a:t>SQLite: draft + audit + snapshot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A0FFCD9-9204-4D99-B4B8-3E4C3A8A1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1524000"/>
            <a:ext cx="4286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245F4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245F48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245F48"/>
                </a:solidFill>
                <a:latin typeface="Arial"/>
                <a:ea typeface="Arial"/>
                <a:cs typeface="Arial"/>
              </a:rPr>
              <a:t>Optional scenario path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D6EE0C8-702D-4A3F-8EEC-27518A8AA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2333625"/>
            <a:ext cx="4286250" cy="3095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203B2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203B2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03B2F"/>
                </a:solidFill>
                <a:latin typeface="Arial"/>
                <a:ea typeface="Arial"/>
                <a:cs typeface="Arial"/>
              </a:rPr>
              <a:t>Persistent request</a:t>
            </a:r>
          </a:p>
          <a:p xmlns:a="http://schemas.openxmlformats.org/drawingml/2006/main">
            <a:pPr>
              <a:defRPr sz="2025" b="0">
                <a:solidFill>
                  <a:srgbClr val="203B2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03B2F"/>
                </a:solidFill>
                <a:latin typeface="Arial"/>
                <a:ea typeface="Arial"/>
                <a:cs typeface="Arial"/>
              </a:rPr>
              <a:t>↓</a:t>
            </a:r>
          </a:p>
          <a:p xmlns:a="http://schemas.openxmlformats.org/drawingml/2006/main">
            <a:pPr>
              <a:defRPr sz="2025" b="0">
                <a:solidFill>
                  <a:srgbClr val="203B2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03B2F"/>
                </a:solidFill>
                <a:latin typeface="Arial"/>
                <a:ea typeface="Arial"/>
                <a:cs typeface="Arial"/>
              </a:rPr>
              <a:t>Separate worker</a:t>
            </a:r>
          </a:p>
          <a:p xmlns:a="http://schemas.openxmlformats.org/drawingml/2006/main">
            <a:pPr>
              <a:defRPr sz="2025" b="0">
                <a:solidFill>
                  <a:srgbClr val="203B2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03B2F"/>
                </a:solidFill>
                <a:latin typeface="Arial"/>
                <a:ea typeface="Arial"/>
                <a:cs typeface="Arial"/>
              </a:rPr>
              <a:t>↓</a:t>
            </a:r>
          </a:p>
          <a:p xmlns:a="http://schemas.openxmlformats.org/drawingml/2006/main">
            <a:pPr>
              <a:defRPr sz="2025" b="0">
                <a:solidFill>
                  <a:srgbClr val="203B2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03B2F"/>
                </a:solidFill>
                <a:latin typeface="Arial"/>
                <a:ea typeface="Arial"/>
                <a:cs typeface="Arial"/>
              </a:rPr>
              <a:t>Pinned MiroFish service</a:t>
            </a:r>
          </a:p>
          <a:p xmlns:a="http://schemas.openxmlformats.org/drawingml/2006/main">
            <a:pPr>
              <a:defRPr sz="2025" b="0">
                <a:solidFill>
                  <a:srgbClr val="203B2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03B2F"/>
                </a:solidFill>
                <a:latin typeface="Arial"/>
                <a:ea typeface="Arial"/>
                <a:cs typeface="Arial"/>
              </a:rPr>
              <a:t>↓</a:t>
            </a:r>
          </a:p>
          <a:p xmlns:a="http://schemas.openxmlformats.org/drawingml/2006/main">
            <a:pPr>
              <a:defRPr sz="2025" b="0">
                <a:solidFill>
                  <a:srgbClr val="203B2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03B2F"/>
                </a:solidFill>
                <a:latin typeface="Arial"/>
                <a:ea typeface="Arial"/>
                <a:cs typeface="Arial"/>
              </a:rPr>
              <a:t>Approved LLM + Zep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C519F27-099F-42FE-A9A3-B4D467CD9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76950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0">
                <a:solidFill>
                  <a:srgbClr val="58685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58685E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8685E"/>
                </a:solidFill>
                <a:latin typeface="Arial"/>
                <a:ea typeface="Arial"/>
                <a:cs typeface="Arial"/>
              </a:rPr>
              <a:t>Mock Orbyte-style connector: our own interface assumption, not an official integration.</a:t>
            </a:r>
          </a:p>
        </p:txBody>
      </p:sp>
    </p:spTree>
    <p:extLst>
      <p:ext uri="{BB962C8B-B14F-4D97-AF65-F5344CB8AC3E}">
        <p14:creationId xmlns:p14="http://schemas.microsoft.com/office/powerpoint/2010/main" val="1749153145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6F7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1E5A6F2-2311-4DDF-B5DB-821FD24B3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09728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225" b="1">
                <a:solidFill>
                  <a:srgbClr val="203B2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225" b="1">
                <a:solidFill>
                  <a:srgbClr val="203B2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203B2F"/>
                </a:solidFill>
                <a:latin typeface="Arial"/>
                <a:ea typeface="Arial"/>
                <a:cs typeface="Arial"/>
              </a:rPr>
              <a:t>Simulation explores uncertain complications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D430EE4-7507-461C-843F-9CE974233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1076325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245F4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245F48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245F48"/>
                </a:solidFill>
                <a:latin typeface="Arial"/>
                <a:ea typeface="Arial"/>
                <a:cs typeface="Arial"/>
              </a:rPr>
              <a:t>What if ingredient delivery is delayed by three days?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C579709-0D2C-4019-BC53-CCD9F67E5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43250"/>
            <a:ext cx="10382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203B2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250" b="0">
                <a:solidFill>
                  <a:srgbClr val="203B2F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03B2F"/>
                </a:solidFill>
                <a:latin typeface="Arial"/>
                <a:ea typeface="Arial"/>
                <a:cs typeface="Arial"/>
              </a:rPr>
              <a:t>Fictional perspectives: owner, purchasing manager, supplier, delivery coordinator and customers.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51B2818-1F40-47B3-A420-EB5CFABC2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29125"/>
            <a:ext cx="10382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203B2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203B2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03B2F"/>
                </a:solidFill>
                <a:latin typeface="Arial"/>
                <a:ea typeface="Arial"/>
                <a:cs typeface="Arial"/>
              </a:rPr>
              <a:t>Explore menu changes, extra workload and possible mitigation.</a:t>
            </a:r>
          </a:p>
          <a:p xmlns:a="http://schemas.openxmlformats.org/drawingml/2006/main">
            <a:pPr>
              <a:defRPr sz="2175" b="0">
                <a:solidFill>
                  <a:srgbClr val="203B2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03B2F"/>
                </a:solidFill>
                <a:latin typeface="Arial"/>
                <a:ea typeface="Arial"/>
                <a:cs typeface="Arial"/>
              </a:rPr>
              <a:t>Do not turn agent opinions into demand forecasts.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0BB520A-9D9C-4BD1-934E-836A29FB6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34075"/>
            <a:ext cx="109728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1">
                <a:solidFill>
                  <a:srgbClr val="98662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986622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986622"/>
                </a:solidFill>
                <a:latin typeface="Arial"/>
                <a:ea typeface="Arial"/>
                <a:cs typeface="Arial"/>
              </a:rPr>
              <a:t>Current state: adapter tested; live execution pending credentials and budget.</a:t>
            </a:r>
          </a:p>
        </p:txBody>
      </p:sp>
    </p:spTree>
    <p:extLst>
      <p:ext uri="{BB962C8B-B14F-4D97-AF65-F5344CB8AC3E}">
        <p14:creationId xmlns:p14="http://schemas.microsoft.com/office/powerpoint/2010/main" val="91487084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6F7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B2FB086-3747-4924-8DB9-04BB6E210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09728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225" b="1">
                <a:solidFill>
                  <a:srgbClr val="203B2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225" b="1">
                <a:solidFill>
                  <a:srgbClr val="203B2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203B2F"/>
                </a:solidFill>
                <a:latin typeface="Arial"/>
                <a:ea typeface="Arial"/>
                <a:cs typeface="Arial"/>
              </a:rPr>
              <a:t>Impact to measure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ABF9394-5A2D-43AA-8DEC-FFB56C8EB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24000"/>
            <a:ext cx="5429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6900" b="1">
                <a:solidFill>
                  <a:srgbClr val="245F4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6900" b="1">
                <a:solidFill>
                  <a:srgbClr val="245F48"/>
                </a:solidFill>
                <a:latin typeface="Arial"/>
                <a:ea typeface="Arial"/>
                <a:cs typeface="Arial"/>
              </a:defRPr>
            </a:pPr>
            <a:r>
              <a:rPr sz="6900" b="1">
                <a:solidFill>
                  <a:srgbClr val="245F48"/>
                </a:solidFill>
                <a:latin typeface="Arial"/>
                <a:ea typeface="Arial"/>
                <a:cs typeface="Arial"/>
              </a:rPr>
              <a:t>30%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70DAED8-928A-4147-9B98-EB8A49CD5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857500"/>
            <a:ext cx="6191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0">
                <a:solidFill>
                  <a:srgbClr val="203B2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400" b="0">
                <a:solidFill>
                  <a:srgbClr val="203B2F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203B2F"/>
                </a:solidFill>
                <a:latin typeface="Arial"/>
                <a:ea typeface="Arial"/>
                <a:cs typeface="Arial"/>
              </a:rPr>
              <a:t>proposed reduction in task time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875A4AA-20FC-42C9-B5AD-8D78CADE7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810000"/>
            <a:ext cx="666750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325" b="0">
                <a:solidFill>
                  <a:srgbClr val="203B2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325" b="0">
                <a:solidFill>
                  <a:srgbClr val="203B2F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203B2F"/>
                </a:solidFill>
                <a:latin typeface="Arial"/>
                <a:ea typeface="Arial"/>
                <a:cs typeface="Arial"/>
              </a:rPr>
              <a:t>Planning baseline: 10 minutes</a:t>
            </a:r>
          </a:p>
          <a:p xmlns:a="http://schemas.openxmlformats.org/drawingml/2006/main">
            <a:pPr>
              <a:defRPr sz="2325" b="0">
                <a:solidFill>
                  <a:srgbClr val="203B2F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203B2F"/>
                </a:solidFill>
                <a:latin typeface="Arial"/>
                <a:ea typeface="Arial"/>
                <a:cs typeface="Arial"/>
              </a:rPr>
              <a:t>Target: 7 minutes or less</a:t>
            </a:r>
          </a:p>
          <a:p xmlns:a="http://schemas.openxmlformats.org/drawingml/2006/main">
            <a:pPr>
              <a:defRPr sz="2325" b="0">
                <a:solidFill>
                  <a:srgbClr val="203B2F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203B2F"/>
                </a:solidFill>
                <a:latin typeface="Arial"/>
                <a:ea typeface="Arial"/>
                <a:cs typeface="Arial"/>
              </a:rPr>
              <a:t>Neither has been measured yet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22758DA-07CB-4D32-9D83-B9F729ED7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1714500"/>
            <a:ext cx="3714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203B2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203B2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203B2F"/>
                </a:solidFill>
                <a:latin typeface="Arial"/>
                <a:ea typeface="Arial"/>
                <a:cs typeface="Arial"/>
              </a:rPr>
              <a:t>SDG 8.2 / 8.3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59448CA-F27B-4DEB-9ABF-6DF8AF9FC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619375"/>
            <a:ext cx="3714750" cy="2714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203B2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203B2F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03B2F"/>
                </a:solidFill>
                <a:latin typeface="Arial"/>
                <a:ea typeface="Arial"/>
                <a:cs typeface="Arial"/>
              </a:rPr>
              <a:t>Less repetitive administration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203B2F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03B2F"/>
                </a:solidFill>
                <a:latin typeface="Arial"/>
                <a:ea typeface="Arial"/>
                <a:cs typeface="Arial"/>
              </a:rPr>
              <a:t>Traceable owner decisions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203B2F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03B2F"/>
                </a:solidFill>
                <a:latin typeface="Arial"/>
                <a:ea typeface="Arial"/>
                <a:cs typeface="Arial"/>
              </a:rPr>
              <a:t>A reusable SME workflow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F900CD6-CE9C-4439-902B-8849FDB2C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15050"/>
            <a:ext cx="1097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0">
                <a:solidFill>
                  <a:srgbClr val="58685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58685E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8685E"/>
                </a:solidFill>
                <a:latin typeface="Arial"/>
                <a:ea typeface="Arial"/>
                <a:cs typeface="Arial"/>
              </a:rPr>
              <a:t>Pilot: same synthetic task, alternating task order, recorded errors and assistance.</a:t>
            </a:r>
          </a:p>
        </p:txBody>
      </p:sp>
    </p:spTree>
    <p:extLst>
      <p:ext uri="{BB962C8B-B14F-4D97-AF65-F5344CB8AC3E}">
        <p14:creationId xmlns:p14="http://schemas.microsoft.com/office/powerpoint/2010/main" val="994696394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6F7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522E255-6EC4-4741-9D49-D29365B45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09728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225" b="1">
                <a:solidFill>
                  <a:srgbClr val="203B2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225" b="1">
                <a:solidFill>
                  <a:srgbClr val="203B2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203B2F"/>
                </a:solidFill>
                <a:latin typeface="Arial"/>
                <a:ea typeface="Arial"/>
                <a:cs typeface="Arial"/>
              </a:rPr>
              <a:t>Verified today; next validation steps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AA116CC-4EC9-4391-8179-9B8811822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71625"/>
            <a:ext cx="685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850" b="1">
                <a:solidFill>
                  <a:srgbClr val="245F4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850" b="1">
                <a:solidFill>
                  <a:srgbClr val="245F4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245F48"/>
                </a:solidFill>
                <a:latin typeface="Arial"/>
                <a:ea typeface="Arial"/>
                <a:cs typeface="Arial"/>
              </a:rPr>
              <a:t>Working procurement MVP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82ED2EC-87CD-4552-A142-210CDB906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0"/>
            <a:ext cx="10858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203B2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203B2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03B2F"/>
                </a:solidFill>
                <a:latin typeface="Arial"/>
                <a:ea typeface="Arial"/>
                <a:cs typeface="Arial"/>
              </a:rPr>
              <a:t>33 backend tests + 3 component tests passed</a:t>
            </a:r>
          </a:p>
          <a:p xmlns:a="http://schemas.openxmlformats.org/drawingml/2006/main">
            <a:pPr>
              <a:defRPr sz="2175" b="0">
                <a:solidFill>
                  <a:srgbClr val="203B2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03B2F"/>
                </a:solidFill>
                <a:latin typeface="Arial"/>
                <a:ea typeface="Arial"/>
                <a:cs typeface="Arial"/>
              </a:rPr>
              <a:t>Type checking and production build passed</a:t>
            </a:r>
          </a:p>
          <a:p xmlns:a="http://schemas.openxmlformats.org/drawingml/2006/main">
            <a:pPr>
              <a:defRPr sz="2175" b="0">
                <a:solidFill>
                  <a:srgbClr val="203B2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03B2F"/>
                </a:solidFill>
                <a:latin typeface="Arial"/>
                <a:ea typeface="Arial"/>
                <a:cs typeface="Arial"/>
              </a:rPr>
              <a:t>Approval, rejection and persistence checked in browser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157AAB5-A5D2-45C1-AC5E-3EF4FA8CB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0"/>
            <a:ext cx="6191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98662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986622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986622"/>
                </a:solidFill>
                <a:latin typeface="Arial"/>
                <a:ea typeface="Arial"/>
                <a:cs typeface="Arial"/>
              </a:rPr>
              <a:t>Still to validate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5C7CB87-BB96-4655-9BEE-0AC2AB4DC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10858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203B2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203B2F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03B2F"/>
                </a:solidFill>
                <a:latin typeface="Arial"/>
                <a:ea typeface="Arial"/>
                <a:cs typeface="Arial"/>
              </a:rPr>
              <a:t>Playwright in compatible CI · genuine Replit use</a:t>
            </a:r>
          </a:p>
          <a:p xmlns:a="http://schemas.openxmlformats.org/drawingml/2006/main">
            <a:pPr>
              <a:defRPr sz="2100" b="0">
                <a:solidFill>
                  <a:srgbClr val="203B2F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03B2F"/>
                </a:solidFill>
                <a:latin typeface="Arial"/>
                <a:ea typeface="Arial"/>
                <a:cs typeface="Arial"/>
              </a:rPr>
              <a:t>One approved MiroFish run · timed SME usability study</a:t>
            </a:r>
          </a:p>
        </p:txBody>
      </p:sp>
    </p:spTree>
    <p:extLst>
      <p:ext uri="{BB962C8B-B14F-4D97-AF65-F5344CB8AC3E}">
        <p14:creationId xmlns:p14="http://schemas.microsoft.com/office/powerpoint/2010/main" val="23013068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2026-10-23T09:14:56.0030000Z</dcterms:created>
  <dcterms:modified xsi:type="dcterms:W3CDTF">2026-10-23T09:14:56.0040000Z</dcterms:modified>
</coreProperties>
</file>