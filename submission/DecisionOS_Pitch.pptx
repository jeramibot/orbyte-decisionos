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3f71cf53e54ef6" /><Relationship Type="http://schemas.openxmlformats.org/officeDocument/2006/relationships/extended-properties" Target="/docProps/app.xml" Id="Rab2c0aad30d143c2" /><Relationship Type="http://schemas.openxmlformats.org/officeDocument/2006/relationships/officeDocument" Target="/ppt/presentation.xml" Id="Rc3e5ebb0e8d144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229c1522fc4221"/>
  </p:sldMasterIdLst>
  <p:notesMasterIdLst>
    <p:notesMasterId xmlns:r="http://schemas.openxmlformats.org/officeDocument/2006/relationships" r:id="R4f0a799daa744f2d"/>
  </p:notesMasterIdLst>
  <p:sldIdLst>
    <p:sldId xmlns:r="http://schemas.openxmlformats.org/officeDocument/2006/relationships" id="256" r:id="R34093b77af6544db"/>
    <p:sldId xmlns:r="http://schemas.openxmlformats.org/officeDocument/2006/relationships" id="257" r:id="R295494a156df4fb3"/>
    <p:sldId xmlns:r="http://schemas.openxmlformats.org/officeDocument/2006/relationships" id="258" r:id="Rce9bb312a35a4bc7"/>
    <p:sldId xmlns:r="http://schemas.openxmlformats.org/officeDocument/2006/relationships" id="259" r:id="Reba737883e064f5f"/>
    <p:sldId xmlns:r="http://schemas.openxmlformats.org/officeDocument/2006/relationships" id="260" r:id="Rd7bf847146454220"/>
    <p:sldId xmlns:r="http://schemas.openxmlformats.org/officeDocument/2006/relationships" id="261" r:id="Rcd851d8e59b1430a"/>
    <p:sldId xmlns:r="http://schemas.openxmlformats.org/officeDocument/2006/relationships" id="262" r:id="Rc3bc118cf0aa48d4"/>
    <p:sldId xmlns:r="http://schemas.openxmlformats.org/officeDocument/2006/relationships" id="263" r:id="Rfc11ba4fc6bb4a11"/>
    <p:sldId xmlns:r="http://schemas.openxmlformats.org/officeDocument/2006/relationships" id="264" r:id="Reeded75f62964e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90c32adfb24cb5" /><Relationship Type="http://schemas.openxmlformats.org/officeDocument/2006/relationships/slideMaster" Target="/ppt/slideMasters/slideMaster1.xml" Id="R0a229c1522fc4221" /><Relationship Type="http://schemas.openxmlformats.org/officeDocument/2006/relationships/notesMaster" Target="/ppt/notesMasters/notesMaster1.xml" Id="R4f0a799daa744f2d" /><Relationship Type="http://schemas.openxmlformats.org/officeDocument/2006/relationships/presProps" Target="/ppt/presProps.xml" Id="Rf18205c18ec0449e" /><Relationship Type="http://schemas.openxmlformats.org/officeDocument/2006/relationships/tableStyles" Target="/ppt/tableStyles.xml" Id="Rca69005083b24796" /><Relationship Type="http://schemas.openxmlformats.org/officeDocument/2006/relationships/slide" Target="/ppt/slides/slide1.xml" Id="R34093b77af6544db" /><Relationship Type="http://schemas.openxmlformats.org/officeDocument/2006/relationships/slide" Target="/ppt/slides/slide2.xml" Id="R295494a156df4fb3" /><Relationship Type="http://schemas.openxmlformats.org/officeDocument/2006/relationships/slide" Target="/ppt/slides/slide3.xml" Id="Rce9bb312a35a4bc7" /><Relationship Type="http://schemas.openxmlformats.org/officeDocument/2006/relationships/slide" Target="/ppt/slides/slide4.xml" Id="Reba737883e064f5f" /><Relationship Type="http://schemas.openxmlformats.org/officeDocument/2006/relationships/slide" Target="/ppt/slides/slide5.xml" Id="Rd7bf847146454220" /><Relationship Type="http://schemas.openxmlformats.org/officeDocument/2006/relationships/slide" Target="/ppt/slides/slide6.xml" Id="Rcd851d8e59b1430a" /><Relationship Type="http://schemas.openxmlformats.org/officeDocument/2006/relationships/slide" Target="/ppt/slides/slide7.xml" Id="Rc3bc118cf0aa48d4" /><Relationship Type="http://schemas.openxmlformats.org/officeDocument/2006/relationships/slide" Target="/ppt/slides/slide8.xml" Id="Rfc11ba4fc6bb4a11" /><Relationship Type="http://schemas.openxmlformats.org/officeDocument/2006/relationships/slide" Target="/ppt/slides/slide9.xml" Id="Reeded75f62964e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f2a71121c94c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d9e5eded5c43ad" /><Relationship Type="http://schemas.openxmlformats.org/officeDocument/2006/relationships/notesMaster" Target="/ppt/notesMasters/notesMaster1.xml" Id="Re15bfe0671fe40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b4348681984783" /><Relationship Type="http://schemas.openxmlformats.org/officeDocument/2006/relationships/notesMaster" Target="/ppt/notesMasters/notesMaster1.xml" Id="R2a047e3fbc9047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99666c276f4ed3" /><Relationship Type="http://schemas.openxmlformats.org/officeDocument/2006/relationships/notesMaster" Target="/ppt/notesMasters/notesMaster1.xml" Id="R298b34b68f184d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3e7aa3fd554766" /><Relationship Type="http://schemas.openxmlformats.org/officeDocument/2006/relationships/notesMaster" Target="/ppt/notesMasters/notesMaster1.xml" Id="Rae0a46d28a544d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bd4f14aeef4bf4" /><Relationship Type="http://schemas.openxmlformats.org/officeDocument/2006/relationships/notesMaster" Target="/ppt/notesMasters/notesMaster1.xml" Id="R7c03bcb6024144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2326aade3b4cb1" /><Relationship Type="http://schemas.openxmlformats.org/officeDocument/2006/relationships/notesMaster" Target="/ppt/notesMasters/notesMaster1.xml" Id="Rb2265594382343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b133eb82864006" /><Relationship Type="http://schemas.openxmlformats.org/officeDocument/2006/relationships/notesMaster" Target="/ppt/notesMasters/notesMaster1.xml" Id="R52d733ba6ca845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7060f471524c3b" /><Relationship Type="http://schemas.openxmlformats.org/officeDocument/2006/relationships/notesMaster" Target="/ppt/notesMasters/notesMaster1.xml" Id="R3e684b54027940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60baca68084951" /><Relationship Type="http://schemas.openxmlformats.org/officeDocument/2006/relationships/notesMaster" Target="/ppt/notesMasters/notesMaster1.xml" Id="Rd90225bd345f4e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Working synthetic prototype. Product/build direction supplied by the user; substantial code and documentation assisted by Codex. Team details and declarations require confirmation. No live Orbyte API or genuine MiroFish simulation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hypothesis from Domain 2 brief and the supplied synthetic cafe scenario. No SME field study. Screenshot: original app, docs/screenshots/mobile-operations.jpg.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backend/services/rules.py and seed.py. Exact quote arithmetic for 60 litres. Delivery and daily usage are assumptions. RM90 is a premium, not savings.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API/procurement service and native browser verification in docs/TESTING.md. Simulated roles. No external order or payment. Deterministic comparison independent of MiroFish.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evidence: docs/screenshots/purchase-draft-audit.jpg. Synthetic decision 3a714d27; Supplier B RM660; PO FD30EC6B. Reload and server restart preserved it. Actual software screenshot, not a mock-up.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docs/ARCHITECTURE.md, API.md and https://github.com/666ghj/MiroFish/tree/7657031ac01184afe2cb220f5ee3545573b5e843 . Original HTTP adapter; no upstream code bundled. Editable diagram.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scenarios.py and docs/MIROFISH.md. Social-agent environments adapted to fictional business perspectives. Upstream environment installed; credential preflight stops without keys. No genuine report, live latency or token totals.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source: https://sdgs.un.org/goals/goal8 . 8.2: productivity through technology; 8.3: SME development. Numbers are planning assumptions/targets, not measured results. Source: docs/BENEFITS.md.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Replit on 23 October 2026: 33 backend tests, 3 component tests, typecheck, build and 4 Playwright tests passed. Browser tests used installed Chromium 152.0.7977.64 after bundled Chromium lacked libglib. Native approval and reload verified. GitHub CI, team declarations and remote publication pending. Workspace: https://replit.com/@jeremyjunxuanta/orbyte-decisionos . User will record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d5c30958c4b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a0568fce4b44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914623d3e44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18c31d3d14b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a5da1355e46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5f2303b8348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33B002-F848-4ADC-87DF-6467307B65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356BF4-E7C7-4A65-A517-25EB62ECF5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095D12-E811-4F65-9172-C71EA33446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955474-8AB5-4242-89B1-3B5F69096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9F50BC4-5775-4D91-B5A9-15302682F4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869890-09C9-4A21-B06E-5B1CE9F2EE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2718C4-71F3-4782-9459-48B388FEBC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2BE27F-2B79-4A05-B467-510669390B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4EAA5B-C93E-470F-84F5-2077B45AB6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0E1416-5448-475F-94C9-117322E3CA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80cf348ef64dee" /><Relationship Type="http://schemas.openxmlformats.org/officeDocument/2006/relationships/slideLayout" Target="/ppt/slideLayouts/slideLayout1.xml" Id="R4135520ab8234b80" /><Relationship Type="http://schemas.openxmlformats.org/officeDocument/2006/relationships/slideLayout" Target="/ppt/slideLayouts/slideLayout2.xml" Id="Rfcc3862fa1694ffe" /><Relationship Type="http://schemas.openxmlformats.org/officeDocument/2006/relationships/slideLayout" Target="/ppt/slideLayouts/slideLayout3.xml" Id="Ra75bd104b0714b6f" /><Relationship Type="http://schemas.openxmlformats.org/officeDocument/2006/relationships/slideLayout" Target="/ppt/slideLayouts/slideLayout4.xml" Id="Rc5621ec7e3424c29" /><Relationship Type="http://schemas.openxmlformats.org/officeDocument/2006/relationships/slideLayout" Target="/ppt/slideLayouts/slideLayout5.xml" Id="Rc19859fd47744020" /><Relationship Type="http://schemas.openxmlformats.org/officeDocument/2006/relationships/slideLayout" Target="/ppt/slideLayouts/slideLayout6.xml" Id="R9b8bd765364b4f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35520ab8234b80"/>
    <p:sldLayoutId xmlns:r="http://schemas.openxmlformats.org/officeDocument/2006/relationships" id="2147483650" r:id="Rfcc3862fa1694ffe"/>
    <p:sldLayoutId xmlns:r="http://schemas.openxmlformats.org/officeDocument/2006/relationships" id="2147483651" r:id="Ra75bd104b0714b6f"/>
    <p:sldLayoutId xmlns:r="http://schemas.openxmlformats.org/officeDocument/2006/relationships" id="2147483652" r:id="Rc5621ec7e3424c29"/>
    <p:sldLayoutId xmlns:r="http://schemas.openxmlformats.org/officeDocument/2006/relationships" id="2147483653" r:id="Rc19859fd47744020"/>
    <p:sldLayoutId xmlns:r="http://schemas.openxmlformats.org/officeDocument/2006/relationships" id="2147483654" r:id="R9b8bd765364b4f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d592437cec4368" /><Relationship Type="http://schemas.openxmlformats.org/officeDocument/2006/relationships/notesSlide" Target="/ppt/notesSlides/notesSlide1.xml" Id="R64fc299cb0c047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f7ae99fa3f4a70" /><Relationship Type="http://schemas.openxmlformats.org/officeDocument/2006/relationships/image" Target="/ppt/media/image.jpeg" Id="R07682e4e1bd24206" /><Relationship Type="http://schemas.openxmlformats.org/officeDocument/2006/relationships/notesSlide" Target="/ppt/notesSlides/notesSlide2.xml" Id="R23a6386da7d04e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637023b63544c7" /><Relationship Type="http://schemas.openxmlformats.org/officeDocument/2006/relationships/notesSlide" Target="/ppt/notesSlides/notesSlide3.xml" Id="R23c0d5fda01d4d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dacd2fb46f4f54" /><Relationship Type="http://schemas.openxmlformats.org/officeDocument/2006/relationships/notesSlide" Target="/ppt/notesSlides/notesSlide4.xml" Id="R7d43b49e20c245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18ada8f1134caf" /><Relationship Type="http://schemas.openxmlformats.org/officeDocument/2006/relationships/image" Target="/ppt/media/image2.jpeg" Id="R1358776e38c24f31" /><Relationship Type="http://schemas.openxmlformats.org/officeDocument/2006/relationships/notesSlide" Target="/ppt/notesSlides/notesSlide5.xml" Id="R607014767a9c4c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2aa92382b4869" /><Relationship Type="http://schemas.openxmlformats.org/officeDocument/2006/relationships/notesSlide" Target="/ppt/notesSlides/notesSlide6.xml" Id="R32c7599e4c6f4f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055a88f72e46eb" /><Relationship Type="http://schemas.openxmlformats.org/officeDocument/2006/relationships/notesSlide" Target="/ppt/notesSlides/notesSlide7.xml" Id="Rae0fda35e1e043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ce55c6b8a14d18" /><Relationship Type="http://schemas.openxmlformats.org/officeDocument/2006/relationships/notesSlide" Target="/ppt/notesSlides/notesSlide8.xml" Id="R3b04fa10c9744a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cb6a3b52c049bb" /><Relationship Type="http://schemas.openxmlformats.org/officeDocument/2006/relationships/notesSlide" Target="/ppt/notesSlides/notesSlide9.xml" Id="R5d8e01e5221f48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5F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A5624-A507-4487-BF79-2A02387D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Orbyte</a:t>
            </a:r>
          </a:p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9CD10-10CA-4767-9472-104236CC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DF2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DF2D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DF2DF"/>
                </a:solidFill>
                <a:latin typeface="Arial"/>
                <a:ea typeface="Arial"/>
                <a:cs typeface="Arial"/>
              </a:rPr>
              <a:t>Owner-controlled procurement for Malaysian SMEs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C8A08-FB8F-472E-A08F-CC5FD42B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AE6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AE6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AE6D2"/>
                </a:solidFill>
                <a:latin typeface="Arial"/>
                <a:ea typeface="Arial"/>
                <a:cs typeface="Arial"/>
              </a:rPr>
              <a:t>Domain 2 · Orbyte Smart SME Challenge · SDG 8</a:t>
            </a:r>
          </a:p>
        </p:txBody>
      </p:sp>
    </p:spTree>
    <p:extLst>
      <p:ext uri="{BB962C8B-B14F-4D97-AF65-F5344CB8AC3E}">
        <p14:creationId xmlns:p14="http://schemas.microsoft.com/office/powerpoint/2010/main" val="57892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0A312-DE2C-47B8-9F68-C9667202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The daily procurement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54651-D7FF-479F-9448-A9D96E08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1.5 days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3B50A-98A3-4CD1-8870-5932B255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6700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of milk coverage in the reference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2CF3B-904E-498B-B4EB-F1C70E10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67125"/>
            <a:ext cx="666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Owners must compare cost with delivery timing, then record a decision they can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E9AAA-968D-49FA-A1C7-8C0E2FB6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6737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18 litres in stock ÷ 12 litres/day</a:t>
            </a:r>
          </a:p>
          <a:p xmlns:a="http://schemas.openxmlformats.org/drawingml/2006/main">
            <a: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All records are synthetic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B6203-AB7B-4A6C-A6DC-3E23B32B63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82e4e1bd24206"/>
          <a:stretch xmlns:a="http://schemas.openxmlformats.org/drawingml/2006/main"/>
        </p:blipFill>
        <p:spPr>
          <a:xfrm xmlns:a="http://schemas.openxmlformats.org/drawingml/2006/main">
            <a:off x="8681680" y="1333500"/>
            <a:ext cx="2353391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574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ED7AC-B91A-40EA-BD9B-96ACA3EC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The cheaper quote arrives later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F32E9-225D-4FE7-A95A-6AC08700AAF4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3295650"/>
                <a:gridCol w="329565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 60 litres</a:t>
                      </a:r>
                    </a:p>
                  </a:txBody>
                  <a:tcPr marL="91440" marR="91440" marT="45720" marB="45720">
                    <a:solidFill>
                      <a:srgbClr val="245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Supplier A</a:t>
                      </a:r>
                    </a:p>
                  </a:txBody>
                  <a:tcPr marL="91440" marR="91440" marT="45720" marB="45720">
                    <a:solidFill>
                      <a:srgbClr val="245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Supplier B</a:t>
                      </a:r>
                    </a:p>
                  </a:txBody>
                  <a:tcPr marL="91440" marR="91440" marT="45720" marB="45720">
                    <a:solidFill>
                      <a:srgbClr val="245F4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Unit price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RM9.50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RM11.00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Quoted 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RM570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RM660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Estimated delivery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4 days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1 day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Arrival vs. stock coverage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2.5 days after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0.5 days before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5EEA6-8024-4D75-A7F8-D80D41AD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RM90 premium for earlier estimated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4CB5-9398-4D33-AA89-0DF3785F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Owner decides. Shipping, tax, spoilage and delivery guarantees are not provided.</a:t>
            </a:r>
          </a:p>
        </p:txBody>
      </p:sp>
    </p:spTree>
    <p:extLst>
      <p:ext uri="{BB962C8B-B14F-4D97-AF65-F5344CB8AC3E}">
        <p14:creationId xmlns:p14="http://schemas.microsoft.com/office/powerpoint/2010/main" val="663884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D8525-6BE6-405D-BE45-BF056666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A complete approval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D4F6D-8945-4AD6-8B42-81C4C958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96011-26D9-4339-8AEC-E4E8EE4A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763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A58A5-20D2-4E91-8230-D6E57652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4763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Run the inventory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1280D-C191-42CC-9492-62340BBA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C2986-9F93-4F96-8A37-E0A56005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907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7ABE8-85F3-444D-8E4D-D0777B08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907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Read stock and supplier quotes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2B693-A8E6-4C35-B147-0D799FF1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1E694-D9A8-4152-A0BC-1A465EC9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051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A9A70-0848-40B0-885C-0E5D1B55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051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Calculate coverage, cost and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0171F-7E40-4C66-B5BF-E6EA122E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C1226-C6C5-4583-8DDA-B03A7D5C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195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4DDED-6C4E-4B72-807A-21282881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195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Owner selects an option and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991D0C-28F8-4D08-B3BE-6C5DBF28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213F0-A91A-4982-8D63-6E61C227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339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6A3F9-B930-4E66-BDED-63BBCE81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339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Save a draft and persistent audit</a:t>
            </a:r>
          </a:p>
        </p:txBody>
      </p:sp>
    </p:spTree>
    <p:extLst>
      <p:ext uri="{BB962C8B-B14F-4D97-AF65-F5344CB8AC3E}">
        <p14:creationId xmlns:p14="http://schemas.microsoft.com/office/powerpoint/2010/main" val="15982977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88F41-10BA-456E-AC59-0AB6FC42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A visible, persistent outcome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0D27C-03F1-4D3A-AA8F-5D6DAD0964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8776e38c24f31"/>
          <a:stretch xmlns:a="http://schemas.openxmlformats.org/drawingml/2006/main"/>
        </p:blipFill>
        <p:spPr>
          <a:xfrm xmlns:a="http://schemas.openxmlformats.org/drawingml/2006/main">
            <a:off x="2329873" y="1285875"/>
            <a:ext cx="7513205" cy="5219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36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14070-2772-4BB9-A1E8-F4EE0E09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Architecture and the Orbyte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DD1C4-5F50-45E3-B3AB-ACEE1228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Operational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7A647-C7CD-4703-AC0D-C758279F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1912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Next.js interface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FastAPI + deterministic rules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Owner approval transaction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SQLite: draft + audit +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822A3-2484-4230-BB29-2B432D1E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240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Optional scenario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698F8-3BD5-4996-B29C-DF8BBA82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33625"/>
            <a:ext cx="4286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Persistent request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Separate worker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Pinned MiroFish service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Approved LLM + Zep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55925-A19E-4FCD-9226-8B1739C6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Mock Orbyte-style connector: our own interface assumption, not an official integration.</a:t>
            </a:r>
          </a:p>
        </p:txBody>
      </p:sp>
    </p:spTree>
    <p:extLst>
      <p:ext uri="{BB962C8B-B14F-4D97-AF65-F5344CB8AC3E}">
        <p14:creationId xmlns:p14="http://schemas.microsoft.com/office/powerpoint/2010/main" val="14880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0C3F0-2026-487A-AA58-A30D3DB1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Simulation explores uncertain complications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4E988-120E-48AA-9894-52C9A823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What if ingredient delivery is delayed by three days?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118E3-2FC1-40BD-8280-C7F97FD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Fictional perspectives: owner, purchasing manager, supplier, delivery coordinator and customers.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B4C7C-BDF6-4CBD-8C85-60E53578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Explore menu changes, extra workload and possible mitigation.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Do not turn agent opinions into demand forecasts.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6C86A-226D-4A50-90F9-74A1A69A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9866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866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86622"/>
                </a:solidFill>
                <a:latin typeface="Arial"/>
                <a:ea typeface="Arial"/>
                <a:cs typeface="Arial"/>
              </a:rPr>
              <a:t>Current state: adapter tested; live execution pending credentials and budget.</a:t>
            </a:r>
          </a:p>
        </p:txBody>
      </p:sp>
    </p:spTree>
    <p:extLst>
      <p:ext uri="{BB962C8B-B14F-4D97-AF65-F5344CB8AC3E}">
        <p14:creationId xmlns:p14="http://schemas.microsoft.com/office/powerpoint/2010/main" val="16156988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7DE10-09D4-4C89-929E-FC59BD8C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Impact to measure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2C571-B7C8-41EC-A052-FA6A4B85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9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9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D2014-1C75-4BC5-AA54-967F7E7E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proposed reduction in task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66A45-BFFC-41BC-8758-35D942A2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Planning baseline: 10 minutes</a:t>
            </a:r>
          </a:p>
          <a:p xmlns:a="http://schemas.openxmlformats.org/drawingml/2006/main">
            <a:pPr>
              <a:defRPr sz="23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Target: 7 minutes or less</a:t>
            </a:r>
          </a:p>
          <a:p xmlns:a="http://schemas.openxmlformats.org/drawingml/2006/main">
            <a:pPr>
              <a:defRPr sz="23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Neither has been measured yet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D8CDA-BB09-4F09-A57F-FFD4327B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SDG 8.2 / 8.3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10E2C-F943-45DE-86C3-DE145D2A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9375"/>
            <a:ext cx="3714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Less repetitive administration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Traceable owner decisions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A reusable SME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66696-A730-4A9C-BE39-EDDED0CE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Pilot: same synthetic task, alternating task order, recorded errors and assistance.</a:t>
            </a:r>
          </a:p>
        </p:txBody>
      </p:sp>
    </p:spTree>
    <p:extLst>
      <p:ext uri="{BB962C8B-B14F-4D97-AF65-F5344CB8AC3E}">
        <p14:creationId xmlns:p14="http://schemas.microsoft.com/office/powerpoint/2010/main" val="619143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BCD51-1717-48EB-B924-8D2CE345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Verified today; next validation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262A8-1D45-466B-BC00-CDE4A1A5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Working procurement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9C4D8-AA54-443D-B812-8C42AB6D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33 backend + 3 component + 4 browser tests passed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Type checking and production build passed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Replit approval and reload persistence verified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D7585-1DFE-46BB-95F5-69D37FA7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9866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98662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86622"/>
                </a:solidFill>
                <a:latin typeface="Arial"/>
                <a:ea typeface="Arial"/>
                <a:cs typeface="Arial"/>
              </a:rPr>
              <a:t>Still to validate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9FB6D-E498-4EBF-AEC0-4FCE3594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GitHub CI and publication · team review</a:t>
            </a:r>
          </a:p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One approved MiroFish run · timed SME usability study</a:t>
            </a:r>
          </a:p>
        </p:txBody>
      </p:sp>
    </p:spTree>
    <p:extLst>
      <p:ext uri="{BB962C8B-B14F-4D97-AF65-F5344CB8AC3E}">
        <p14:creationId xmlns:p14="http://schemas.microsoft.com/office/powerpoint/2010/main" val="2006376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2026-10-23T17:55:40.8450000Z</dcterms:created>
  <dcterms:modified xsi:type="dcterms:W3CDTF">2026-10-23T17:55:40.8450000Z</dcterms:modified>
</coreProperties>
</file>