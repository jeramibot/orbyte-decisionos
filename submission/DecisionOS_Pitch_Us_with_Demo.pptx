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96b500ecca4473" /><Relationship Type="http://schemas.openxmlformats.org/officeDocument/2006/relationships/extended-properties" Target="/docProps/app.xml" Id="R57c19365953046ea" /><Relationship Type="http://schemas.openxmlformats.org/officeDocument/2006/relationships/officeDocument" Target="/ppt/presentation.xml" Id="R5883e56eb77042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cf9c1c80fb44ca"/>
  </p:sldMasterIdLst>
  <p:notesMasterIdLst>
    <p:notesMasterId xmlns:r="http://schemas.openxmlformats.org/officeDocument/2006/relationships" r:id="R7643be2e5e0b4ddc"/>
  </p:notesMasterIdLst>
  <p:sldIdLst>
    <p:sldId xmlns:r="http://schemas.openxmlformats.org/officeDocument/2006/relationships" id="256" r:id="R272fc1ce16464f28"/>
    <p:sldId xmlns:r="http://schemas.openxmlformats.org/officeDocument/2006/relationships" id="257" r:id="Rea062eff70a0476b"/>
    <p:sldId xmlns:r="http://schemas.openxmlformats.org/officeDocument/2006/relationships" id="258" r:id="R794458b4cefe4fef"/>
    <p:sldId xmlns:r="http://schemas.openxmlformats.org/officeDocument/2006/relationships" id="259" r:id="Raeeabaf33c8e4425"/>
    <p:sldId xmlns:r="http://schemas.openxmlformats.org/officeDocument/2006/relationships" id="260" r:id="R2183a71356894615"/>
    <p:sldId xmlns:r="http://schemas.openxmlformats.org/officeDocument/2006/relationships" id="261" r:id="Rdd46e1f27b944cce"/>
    <p:sldId xmlns:r="http://schemas.openxmlformats.org/officeDocument/2006/relationships" id="262" r:id="R39b7cdb6a6a1413d"/>
    <p:sldId xmlns:r="http://schemas.openxmlformats.org/officeDocument/2006/relationships" id="263" r:id="R306394dbadce4557"/>
    <p:sldId xmlns:r="http://schemas.openxmlformats.org/officeDocument/2006/relationships" id="264" r:id="Rc8cf4b280aa54871"/>
    <p:sldId xmlns:r="http://schemas.openxmlformats.org/officeDocument/2006/relationships" id="265" r:id="Raa67323f2e154b42"/>
    <p:sldId xmlns:r="http://schemas.openxmlformats.org/officeDocument/2006/relationships" id="266" r:id="R5b3ed330e6ab40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3a10753d73b4735" /><Relationship Type="http://schemas.openxmlformats.org/officeDocument/2006/relationships/slideMaster" Target="/ppt/slideMasters/slideMaster1.xml" Id="R69cf9c1c80fb44ca" /><Relationship Type="http://schemas.openxmlformats.org/officeDocument/2006/relationships/notesMaster" Target="/ppt/notesMasters/notesMaster1.xml" Id="R7643be2e5e0b4ddc" /><Relationship Type="http://schemas.openxmlformats.org/officeDocument/2006/relationships/presProps" Target="/ppt/presProps.xml" Id="Re60a06362d564ced" /><Relationship Type="http://schemas.openxmlformats.org/officeDocument/2006/relationships/tableStyles" Target="/ppt/tableStyles.xml" Id="R8d36915514904e8d" /><Relationship Type="http://schemas.openxmlformats.org/officeDocument/2006/relationships/slide" Target="/ppt/slides/slide1.xml" Id="R272fc1ce16464f28" /><Relationship Type="http://schemas.openxmlformats.org/officeDocument/2006/relationships/slide" Target="/ppt/slides/slide2.xml" Id="Rea062eff70a0476b" /><Relationship Type="http://schemas.openxmlformats.org/officeDocument/2006/relationships/slide" Target="/ppt/slides/slide3.xml" Id="R794458b4cefe4fef" /><Relationship Type="http://schemas.openxmlformats.org/officeDocument/2006/relationships/slide" Target="/ppt/slides/slide4.xml" Id="Raeeabaf33c8e4425" /><Relationship Type="http://schemas.openxmlformats.org/officeDocument/2006/relationships/slide" Target="/ppt/slides/slide5.xml" Id="R2183a71356894615" /><Relationship Type="http://schemas.openxmlformats.org/officeDocument/2006/relationships/slide" Target="/ppt/slides/slide6.xml" Id="Rdd46e1f27b944cce" /><Relationship Type="http://schemas.openxmlformats.org/officeDocument/2006/relationships/slide" Target="/ppt/slides/slide7.xml" Id="R39b7cdb6a6a1413d" /><Relationship Type="http://schemas.openxmlformats.org/officeDocument/2006/relationships/slide" Target="/ppt/slides/slide8.xml" Id="R306394dbadce4557" /><Relationship Type="http://schemas.openxmlformats.org/officeDocument/2006/relationships/slide" Target="/ppt/slides/slide9.xml" Id="Rc8cf4b280aa54871" /><Relationship Type="http://schemas.openxmlformats.org/officeDocument/2006/relationships/slide" Target="/ppt/slides/slide10.xml" Id="Raa67323f2e154b42" /><Relationship Type="http://schemas.openxmlformats.org/officeDocument/2006/relationships/slide" Target="/ppt/slides/slide11.xml" Id="R5b3ed330e6ab40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7cc1dd70e94e3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a52f3fbbc14226" /><Relationship Type="http://schemas.openxmlformats.org/officeDocument/2006/relationships/notesMaster" Target="/ppt/notesMasters/notesMaster1.xml" Id="Rb259d3c1df364d9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f6c6a660894315" /><Relationship Type="http://schemas.openxmlformats.org/officeDocument/2006/relationships/notesMaster" Target="/ppt/notesMasters/notesMaster1.xml" Id="R19e92933e03843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881541d36f4128" /><Relationship Type="http://schemas.openxmlformats.org/officeDocument/2006/relationships/notesMaster" Target="/ppt/notesMasters/notesMaster1.xml" Id="R5717cb359bfc43f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da80d092594369" /><Relationship Type="http://schemas.openxmlformats.org/officeDocument/2006/relationships/notesMaster" Target="/ppt/notesMasters/notesMaster1.xml" Id="Ra8bd2ffd21de4f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eb126cdd9c54266" /><Relationship Type="http://schemas.openxmlformats.org/officeDocument/2006/relationships/notesMaster" Target="/ppt/notesMasters/notesMaster1.xml" Id="R1aae9c72ffca43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7585567cca4f2c" /><Relationship Type="http://schemas.openxmlformats.org/officeDocument/2006/relationships/notesMaster" Target="/ppt/notesMasters/notesMaster1.xml" Id="R1d29a67b624c4f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71c9be8ef444c2d" /><Relationship Type="http://schemas.openxmlformats.org/officeDocument/2006/relationships/notesMaster" Target="/ppt/notesMasters/notesMaster1.xml" Id="Rdfe9ff9c6ba045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23b35c06ecf498e" /><Relationship Type="http://schemas.openxmlformats.org/officeDocument/2006/relationships/notesMaster" Target="/ppt/notesMasters/notesMaster1.xml" Id="R8d8bab1c5d1f422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59a53e5cb6c4ac5" /><Relationship Type="http://schemas.openxmlformats.org/officeDocument/2006/relationships/notesMaster" Target="/ppt/notesMasters/notesMaster1.xml" Id="R3017b6a1408d447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fae9190cac842c9" /><Relationship Type="http://schemas.openxmlformats.org/officeDocument/2006/relationships/notesMaster" Target="/ppt/notesMasters/notesMaster1.xml" Id="R2e06eef5acce403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80dc7ffc3574566" /><Relationship Type="http://schemas.openxmlformats.org/officeDocument/2006/relationships/notesMaster" Target="/ppt/notesMasters/notesMaster1.xml" Id="R2f5d33307259455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Working synthetic prototype by registered team Us!. Product/build direction supplied by the user; substantial code and documentation assisted by Codex. Leader/member details and declarations require confirmation. No live Orbyte API or genuine MiroFish simulation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hypothesis from Domain 2 brief and the supplied synthetic cafe scenario. No SME field study. Screenshot: original app, docs/screenshots/mobile-operations.jpg.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backend/services/rules.py and seed.py. Exact quote arithmetic for 60 litres. Delivery and daily usage are assumptions. RM90 is a premium, not savings.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API/procurement service and native browser verification in docs/TESTING.md. Simulated roles. No external order or payment. Deterministic comparison independent of MiroFish.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synthetic DecisionOS run. This screenshot shows the approved state because the shared demo persists prior actions. During the recorded walkthrough, create a new decision and show the same comparison before approval. No real supplier data or transaction.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synthetic Replit run. Supplier B was selected for estimated arrival within stock coverage. The RM90 amount is a premium, not a measured saving. Simulated roles are not production authentication. No external order or payment.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evidence: docs/screenshots/purchase-draft-audit.jpg. Synthetic decision 3a714d27; Supplier B RM660; PO FD30EC6B. Reload and server restart preserved it. Actual software screenshot, not a mock-up.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docs/ARCHITECTURE.md, API.md and https://github.com/666ghj/MiroFish/tree/7657031ac01184afe2cb220f5ee3545573b5e843 . Original HTTP adapter; no upstream code bundled. Editable diagram.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scenarios.py and docs/MIROFISH.md. Social-agent environments adapted to fictional business perspectives. Upstream environment installed; small Gemini provider checks passed, but the locally saved Zep value is masked and invalid. No genuine report, live latency or token totals.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 source: https://sdgs.un.org/goals/goal8 . 8.2: productivity through technology; 8.3: SME development. Numbers are planning assumptions/targets, not measured results. Source: docs/BENEFITS.md.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 Replit on 23 October 2026: 33 backend tests, 3 component tests, typecheck, build and 4 Playwright tests passed. Browser tests used installed Chromium 152.0.7977.64. GitHub CI passed. On 24 October the public synthetic Replit demo passed security checks and an inventory-check, owner-approval, draft and reload check. Live URL: https://orbyte-decisionos--jeremyjunxuanta.replit.app/ . Team declarations, video, committee GitHub access and Core-voucher eligibility remain pending. No genuine MiroFish run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c27692e8304da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58a7623c284cf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787877d4be4d6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a321b0f2b7447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6796bf9ba14e9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245edbc7224f4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A2857F2-7ED6-47FA-B122-9C5E44B70B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F561ABF-1679-4EE0-99E9-ECDBFC5A940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48EEE0A-83C4-4719-9653-DF8E84CD1D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469A6FA-9705-465D-9E4A-3A4DF6E0F0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EDF592A-FB5F-4B35-B12F-028E1951155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5652507-7C94-42AE-B055-2DA62A187B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08B03A5-1F2B-4C17-B65D-06AEC47F7C8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F602157-206A-4B23-8580-794A475ABC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CFD4BB-9522-4FC8-A591-966FAD96B0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6FBCC4-7C87-4B00-AE81-E31A9E60F21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827e4e227847b3" /><Relationship Type="http://schemas.openxmlformats.org/officeDocument/2006/relationships/slideLayout" Target="/ppt/slideLayouts/slideLayout1.xml" Id="R3c779f3bfe3343d2" /><Relationship Type="http://schemas.openxmlformats.org/officeDocument/2006/relationships/slideLayout" Target="/ppt/slideLayouts/slideLayout2.xml" Id="R671a25cd089b4453" /><Relationship Type="http://schemas.openxmlformats.org/officeDocument/2006/relationships/slideLayout" Target="/ppt/slideLayouts/slideLayout3.xml" Id="R707a1b1a70664f43" /><Relationship Type="http://schemas.openxmlformats.org/officeDocument/2006/relationships/slideLayout" Target="/ppt/slideLayouts/slideLayout4.xml" Id="R9119c20aa32e4c73" /><Relationship Type="http://schemas.openxmlformats.org/officeDocument/2006/relationships/slideLayout" Target="/ppt/slideLayouts/slideLayout5.xml" Id="R3a1ccdd4ddb743a9" /><Relationship Type="http://schemas.openxmlformats.org/officeDocument/2006/relationships/slideLayout" Target="/ppt/slideLayouts/slideLayout6.xml" Id="R320e5c830e104a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c779f3bfe3343d2"/>
    <p:sldLayoutId xmlns:r="http://schemas.openxmlformats.org/officeDocument/2006/relationships" id="2147483650" r:id="R671a25cd089b4453"/>
    <p:sldLayoutId xmlns:r="http://schemas.openxmlformats.org/officeDocument/2006/relationships" id="2147483651" r:id="R707a1b1a70664f43"/>
    <p:sldLayoutId xmlns:r="http://schemas.openxmlformats.org/officeDocument/2006/relationships" id="2147483652" r:id="R9119c20aa32e4c73"/>
    <p:sldLayoutId xmlns:r="http://schemas.openxmlformats.org/officeDocument/2006/relationships" id="2147483653" r:id="R3a1ccdd4ddb743a9"/>
    <p:sldLayoutId xmlns:r="http://schemas.openxmlformats.org/officeDocument/2006/relationships" id="2147483654" r:id="R320e5c830e104a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c8ceb108cc4018" /><Relationship Type="http://schemas.openxmlformats.org/officeDocument/2006/relationships/notesSlide" Target="/ppt/notesSlides/notesSlide1.xml" Id="R1d7bbabd947c42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01af0fa6134220" /><Relationship Type="http://schemas.openxmlformats.org/officeDocument/2006/relationships/image" Target="/ppt/media/image.jpeg" Id="R55a9a026f8084550" /><Relationship Type="http://schemas.openxmlformats.org/officeDocument/2006/relationships/notesSlide" Target="/ppt/notesSlides/notesSlide2.xml" Id="R122adab4513d44a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03b70821c74c98" /><Relationship Type="http://schemas.openxmlformats.org/officeDocument/2006/relationships/notesSlide" Target="/ppt/notesSlides/notesSlide3.xml" Id="R951982d464554dd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18803757604135" /><Relationship Type="http://schemas.openxmlformats.org/officeDocument/2006/relationships/notesSlide" Target="/ppt/notesSlides/notesSlide4.xml" Id="R9d3dc96808164f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8dd91cf3af4204" /><Relationship Type="http://schemas.openxmlformats.org/officeDocument/2006/relationships/image" Target="/ppt/media/image2.jpeg" Id="R985f66e1244d4d9d" /><Relationship Type="http://schemas.openxmlformats.org/officeDocument/2006/relationships/notesSlide" Target="/ppt/notesSlides/notesSlide5.xml" Id="R605e9171140e4d0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f7cbe945214dbc" /><Relationship Type="http://schemas.openxmlformats.org/officeDocument/2006/relationships/image" Target="/ppt/media/image3.jpeg" Id="R627e76fdf2a2402f" /><Relationship Type="http://schemas.openxmlformats.org/officeDocument/2006/relationships/notesSlide" Target="/ppt/notesSlides/notesSlide6.xml" Id="Re234fca3069a4b9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c3baaac2f64100" /><Relationship Type="http://schemas.openxmlformats.org/officeDocument/2006/relationships/image" Target="/ppt/media/image4.jpeg" Id="Rf1614a7b969c4106" /><Relationship Type="http://schemas.openxmlformats.org/officeDocument/2006/relationships/notesSlide" Target="/ppt/notesSlides/notesSlide7.xml" Id="R36dcbc71a8b045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51f537146247ce" /><Relationship Type="http://schemas.openxmlformats.org/officeDocument/2006/relationships/notesSlide" Target="/ppt/notesSlides/notesSlide8.xml" Id="R866b7f0c254a48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2ec7ef2abf4068" /><Relationship Type="http://schemas.openxmlformats.org/officeDocument/2006/relationships/notesSlide" Target="/ppt/notesSlides/notesSlide9.xml" Id="R02502a83eb2b42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46b8767ec84b86" /><Relationship Type="http://schemas.openxmlformats.org/officeDocument/2006/relationships/notesSlide" Target="/ppt/notesSlides/notesSlide10.xml" Id="R484f2369f8904e2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fb56b820ac42e0" /><Relationship Type="http://schemas.openxmlformats.org/officeDocument/2006/relationships/notesSlide" Target="/ppt/notesSlides/notesSlide11.xml" Id="R9d200be0f0c642d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45F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855F4B-C88E-47D1-80D4-3A8D92CB1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0001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Orbyte</a:t>
            </a:r>
          </a:p>
          <a:p xmlns:a="http://schemas.openxmlformats.org/drawingml/2006/main">
            <a:pPr>
              <a:defRPr sz="6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DecisionOS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EA560-6721-4398-AF1B-57285E8D9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10287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EDF2D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EDF2D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EDF2DF"/>
                </a:solidFill>
                <a:latin typeface="Arial"/>
                <a:ea typeface="Arial"/>
                <a:cs typeface="Arial"/>
              </a:rPr>
              <a:t>Owner-controlled procurement for Malaysian SMEs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803394-56D5-421D-BE60-138512B33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531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AE6D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DAE6D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AE6D2"/>
                </a:solidFill>
                <a:latin typeface="Arial"/>
                <a:ea typeface="Arial"/>
                <a:cs typeface="Arial"/>
              </a:rPr>
              <a:t>Team Us! · Domain 2 · Orbyte Smart SME Challenge · SDG 8</a:t>
            </a:r>
          </a:p>
        </p:txBody>
      </p:sp>
    </p:spTree>
    <p:extLst>
      <p:ext uri="{BB962C8B-B14F-4D97-AF65-F5344CB8AC3E}">
        <p14:creationId xmlns:p14="http://schemas.microsoft.com/office/powerpoint/2010/main" val="15309041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A4B41E-6ABB-4745-9E86-2B4D1534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The daily procurement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96922B-BBB7-436E-83F7-4900F7470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5700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1.5 days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2B7F6-6039-404A-9D04-682AD4BF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67000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of milk coverage in the reference case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E4F9D4-F6B1-46DD-B0A6-0329B350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67125"/>
            <a:ext cx="6667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Owners must compare cost with delivery timing, then record a decision they can explain.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21A4C-F0EA-4282-B995-9952CAA4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667375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85E"/>
                </a:solidFill>
                <a:latin typeface="Arial"/>
                <a:ea typeface="Arial"/>
                <a:cs typeface="Arial"/>
              </a:rPr>
              <a:t>18 litres in stock ÷ 12 litres/day</a:t>
            </a:r>
          </a:p>
          <a:p xmlns:a="http://schemas.openxmlformats.org/drawingml/2006/main">
            <a:pPr>
              <a:defRPr sz="1725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85E"/>
                </a:solidFill>
                <a:latin typeface="Arial"/>
                <a:ea typeface="Arial"/>
                <a:cs typeface="Arial"/>
              </a:rPr>
              <a:t>All records are synthetic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A2AFF9-ED2D-4E84-8BDA-E1D9E56B97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a9a026f8084550"/>
          <a:stretch xmlns:a="http://schemas.openxmlformats.org/drawingml/2006/main"/>
        </p:blipFill>
        <p:spPr>
          <a:xfrm xmlns:a="http://schemas.openxmlformats.org/drawingml/2006/main">
            <a:off x="8681680" y="1333500"/>
            <a:ext cx="2353391" cy="5095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9264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8E4F8-A0E3-4F73-A5AB-E87EBDE3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The cheaper quote arrives later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FE6DBF-7D6F-49B3-9BBB-890A530DFACD}"/>
              </a:ext>
            </a:extLst>
          </p:cNvPr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3295650"/>
                <a:gridCol w="3295650"/>
              </a:tblGrid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For 60 litres</a:t>
                      </a:r>
                    </a:p>
                  </a:txBody>
                  <a:tcPr marL="91440" marR="91440" marT="45720" marB="45720">
                    <a:solidFill>
                      <a:srgbClr val="245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Supplier A</a:t>
                      </a:r>
                    </a:p>
                  </a:txBody>
                  <a:tcPr marL="91440" marR="91440" marT="45720" marB="45720">
                    <a:solidFill>
                      <a:srgbClr val="245F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Supplier B</a:t>
                      </a:r>
                    </a:p>
                  </a:txBody>
                  <a:tcPr marL="91440" marR="91440" marT="45720" marB="45720">
                    <a:solidFill>
                      <a:srgbClr val="245F4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Unit price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RM9.50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RM11.00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Quoted 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RM570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RM660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Estimated delivery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4 days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1 day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Arrival vs. stock coverage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2.5 days after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03B2F"/>
                          </a:solidFill>
                          <a:latin typeface="Arial"/>
                          <a:ea typeface="Arial"/>
                          <a:cs typeface="Arial"/>
                        </a:rPr>
                        <a:t>0.5 days before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407A2-10FB-44C2-802D-4A6AF9612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09728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RM90 premium for earlier estimated delivery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A8A07-1480-42F3-BE0F-9A13B3A2A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912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8685E"/>
                </a:solidFill>
                <a:latin typeface="Arial"/>
                <a:ea typeface="Arial"/>
                <a:cs typeface="Arial"/>
              </a:rPr>
              <a:t>Owner decides. Shipping, tax, spoilage and delivery guarantees are not provided.</a:t>
            </a:r>
          </a:p>
        </p:txBody>
      </p:sp>
    </p:spTree>
    <p:extLst>
      <p:ext uri="{BB962C8B-B14F-4D97-AF65-F5344CB8AC3E}">
        <p14:creationId xmlns:p14="http://schemas.microsoft.com/office/powerpoint/2010/main" val="13949656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03DD0E-C4DF-48B4-B8E1-9C9AD505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A complete approval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5BADD-461E-4A2E-B41E-228A8596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BA33E3-9B77-489A-9CC3-A3F8C9745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1476375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Trigger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F66F4-CDB2-4FBD-83A4-A30BF87D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1476375"/>
            <a:ext cx="757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Run the inventory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EF841-E73E-49E8-8C46-9AB60B34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907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C1146-CB48-4317-8E02-EE2CDB56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390775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452B0D-F76F-4355-B7CF-AE44E2F5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390775"/>
            <a:ext cx="757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Read stock and supplier quotes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1A313E-20BC-4293-A440-2B2D4CFE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051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00ED54-81C9-483B-AF3B-82E84A3F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05175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FF7CF-6888-4766-8836-D4DE93E5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3305175"/>
            <a:ext cx="757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Calculate coverage, cost and risk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3EE903-6092-4C59-AEF8-FA481969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DD0D5C-64D2-4ADC-9089-5115A3257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19575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Approve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5AFE73-2A7D-492C-89DB-D19811B4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219575"/>
            <a:ext cx="757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Owner selects an option and reason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D54C83-6EF2-47AC-9B27-06AECC6B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33975"/>
            <a:ext cx="76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5A3F6E-1D31-4CFA-A08B-B07BF2CA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33975"/>
            <a:ext cx="2143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Record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9ED60F-58AC-454E-A6E9-F62129AD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133975"/>
            <a:ext cx="7572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Save a draft and persistent audit</a:t>
            </a:r>
          </a:p>
        </p:txBody>
      </p:sp>
    </p:spTree>
    <p:extLst>
      <p:ext uri="{BB962C8B-B14F-4D97-AF65-F5344CB8AC3E}">
        <p14:creationId xmlns:p14="http://schemas.microsoft.com/office/powerpoint/2010/main" val="5575875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00DA05-5A78-4BEB-B3E9-FA906CA4B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Demo step 1 · Compare the evidence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461201-8EC5-4782-A556-731218A06D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5f66e1244d4d9d"/>
          <a:stretch xmlns:a="http://schemas.openxmlformats.org/drawingml/2006/main"/>
        </p:blipFill>
        <p:spPr>
          <a:xfrm xmlns:a="http://schemas.openxmlformats.org/drawingml/2006/main">
            <a:off x="2531341" y="1257300"/>
            <a:ext cx="7129318" cy="4953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03CB09-418C-4B7C-ABE0-AFD34AA0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34125"/>
            <a:ext cx="10706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Presenter cue: point to 1.5 days of coverage, RM570 versus RM660, and 4 days versus 1 day.</a:t>
            </a:r>
          </a:p>
        </p:txBody>
      </p:sp>
    </p:spTree>
    <p:extLst>
      <p:ext uri="{BB962C8B-B14F-4D97-AF65-F5344CB8AC3E}">
        <p14:creationId xmlns:p14="http://schemas.microsoft.com/office/powerpoint/2010/main" val="189837312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E44919-F670-43B4-9784-FF27A1A5C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Demo step 2 · The owner approves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4A7C7A-05A5-4774-9CEA-9DCE2CC9D4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7e76fdf2a2402f"/>
          <a:stretch xmlns:a="http://schemas.openxmlformats.org/drawingml/2006/main"/>
        </p:blipFill>
        <p:spPr>
          <a:xfrm xmlns:a="http://schemas.openxmlformats.org/drawingml/2006/main">
            <a:off x="1761067" y="1238250"/>
            <a:ext cx="8669867" cy="48768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87281F-507F-4737-9F14-5C5D49DEA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Presenter cue: explain the approval reason and that the purchase order remains a draft.</a:t>
            </a:r>
          </a:p>
        </p:txBody>
      </p:sp>
    </p:spTree>
    <p:extLst>
      <p:ext uri="{BB962C8B-B14F-4D97-AF65-F5344CB8AC3E}">
        <p14:creationId xmlns:p14="http://schemas.microsoft.com/office/powerpoint/2010/main" val="7819504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8E5CE-7732-4538-8FDE-3D9F6C58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Demo step 3 · Draft and audit persist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A772AE-9326-4653-895C-0707F07271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14a7b969c4106"/>
          <a:stretch xmlns:a="http://schemas.openxmlformats.org/drawingml/2006/main"/>
        </p:blipFill>
        <p:spPr>
          <a:xfrm xmlns:a="http://schemas.openxmlformats.org/drawingml/2006/main">
            <a:off x="2521816" y="1285875"/>
            <a:ext cx="7129318" cy="4953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B220C-CD67-4476-A7F8-6FF67D9CC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343650"/>
            <a:ext cx="942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425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Presenter cue: reload the page, then open Audit log to show the saved actor, reason and outcome.</a:t>
            </a:r>
          </a:p>
        </p:txBody>
      </p:sp>
    </p:spTree>
    <p:extLst>
      <p:ext uri="{BB962C8B-B14F-4D97-AF65-F5344CB8AC3E}">
        <p14:creationId xmlns:p14="http://schemas.microsoft.com/office/powerpoint/2010/main" val="17690527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F70493-68EB-4EE7-BCB2-BDFAB6A50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Architecture and the Orbyte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BF973-6E56-4C07-B374-E16C681BF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Operational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795B43-A575-456F-BB34-4BDC640CC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6191250" cy="3476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Next.js interface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FastAPI + deterministic rules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Owner approval transaction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SQLite: draft + audit + snapshot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928C0-03DC-448E-AF86-5E8B1EE4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2400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Optional scenario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E9C00-6FA1-427C-AD82-D37A6DA3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33625"/>
            <a:ext cx="4286250" cy="3095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Persistent request</a:t>
            </a:r>
          </a:p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Separate worker</a:t>
            </a:r>
          </a:p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Pinned MiroFish service</a:t>
            </a:r>
          </a:p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↓</a:t>
            </a:r>
          </a:p>
          <a:p xmlns:a="http://schemas.openxmlformats.org/drawingml/2006/main">
            <a:pPr>
              <a:defRPr sz="20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Approved LLM + Zep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1ED5A3-4461-4F05-BC28-DA338C22A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85E"/>
                </a:solidFill>
                <a:latin typeface="Arial"/>
                <a:ea typeface="Arial"/>
                <a:cs typeface="Arial"/>
              </a:rPr>
              <a:t>Mock Orbyte-style connector: our own interface assumption, not an official integration.</a:t>
            </a:r>
          </a:p>
        </p:txBody>
      </p:sp>
    </p:spTree>
    <p:extLst>
      <p:ext uri="{BB962C8B-B14F-4D97-AF65-F5344CB8AC3E}">
        <p14:creationId xmlns:p14="http://schemas.microsoft.com/office/powerpoint/2010/main" val="13199956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6D67D1-998B-48C9-BA6D-A7FC4A2DE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Simulation explores uncertain complications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F6B7D-3563-4D5B-861C-EA8D40237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763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What if ingredient delivery is delayed by three days?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12A8E3-A558-469D-9977-5948EC6C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Fictional perspectives: owner, purchasing manager, supplier, delivery coordinator and customers.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E66750-B509-45E4-BE99-AAE5ACAD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38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Explore menu changes, extra workload and possible mitigation.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Do not turn agent opinions into demand forecasts.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C9889C-70F9-4405-8F11-7BD4CFF4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972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9866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986622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986622"/>
                </a:solidFill>
                <a:latin typeface="Arial"/>
                <a:ea typeface="Arial"/>
                <a:cs typeface="Arial"/>
              </a:rPr>
              <a:t>Current state: Gemini check passed; Zep key and live simulation pending.</a:t>
            </a:r>
          </a:p>
        </p:txBody>
      </p:sp>
    </p:spTree>
    <p:extLst>
      <p:ext uri="{BB962C8B-B14F-4D97-AF65-F5344CB8AC3E}">
        <p14:creationId xmlns:p14="http://schemas.microsoft.com/office/powerpoint/2010/main" val="92798672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E90772-5DBE-45BD-A580-B487AA17C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Impact to measure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E099B-CDF5-413C-A076-62B4EB34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429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9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90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084B4-61CC-4FBE-A879-86D123A3B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619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proposed reduction in task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B3E066-AF88-4973-9E8A-900A0E924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6667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Planning baseline: 10 minutes</a:t>
            </a:r>
          </a:p>
          <a:p xmlns:a="http://schemas.openxmlformats.org/drawingml/2006/main">
            <a:pPr>
              <a:defRPr sz="23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Target: 7 minutes or less</a:t>
            </a:r>
          </a:p>
          <a:p xmlns:a="http://schemas.openxmlformats.org/drawingml/2006/main">
            <a:pPr>
              <a:defRPr sz="232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Neither has been measured yet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63E31-9377-46CD-A6E9-5765B7F70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714500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SDG 8.2 / 8.3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ACDFED-21B8-4508-873C-58324EE30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619375"/>
            <a:ext cx="371475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Less repetitive administration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Traceable owner decisions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A reusable SME workflow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BD520-2D30-4831-9F66-9C91AD30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8685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85E"/>
                </a:solidFill>
                <a:latin typeface="Arial"/>
                <a:ea typeface="Arial"/>
                <a:cs typeface="Arial"/>
              </a:rPr>
              <a:t>Pilot: same synthetic task, alternating task order, recorded errors and assistance.</a:t>
            </a:r>
          </a:p>
        </p:txBody>
      </p:sp>
    </p:spTree>
    <p:extLst>
      <p:ext uri="{BB962C8B-B14F-4D97-AF65-F5344CB8AC3E}">
        <p14:creationId xmlns:p14="http://schemas.microsoft.com/office/powerpoint/2010/main" val="13469504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31E871-C964-4474-B56F-6AAB43B5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728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225" b="1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03B2F"/>
                </a:solidFill>
                <a:latin typeface="Arial"/>
                <a:ea typeface="Arial"/>
                <a:cs typeface="Arial"/>
              </a:rPr>
              <a:t>Verified build and live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E46FAD-A602-4870-A7F7-43500B4F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685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245F48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245F48"/>
                </a:solidFill>
                <a:latin typeface="Arial"/>
                <a:ea typeface="Arial"/>
                <a:cs typeface="Arial"/>
              </a:rPr>
              <a:t>Working procurement MVP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C7673A-6CE1-4189-8519-AA0EACF6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33 backend + 3 component + 4 browser tests passed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GitHub CI passed; public Replit demo live</a:t>
            </a:r>
          </a:p>
          <a:p xmlns:a="http://schemas.openxmlformats.org/drawingml/2006/main">
            <a:pPr>
              <a:defRPr sz="2175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Owner approval and draft persisted after reload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6F5AD0-A069-49C0-A677-53A050B9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98662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986622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986622"/>
                </a:solidFill>
                <a:latin typeface="Arial"/>
                <a:ea typeface="Arial"/>
                <a:cs typeface="Arial"/>
              </a:rPr>
              <a:t>Still to complete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F1EB9-7F9B-4AEF-B6B3-DF736719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Team review, signatures, video and Core eligibility</a:t>
            </a:r>
          </a:p>
          <a:p xmlns:a="http://schemas.openxmlformats.org/drawingml/2006/main">
            <a:pPr>
              <a:defRPr sz="2100" b="0">
                <a:solidFill>
                  <a:srgbClr val="203B2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03B2F"/>
                </a:solidFill>
                <a:latin typeface="Arial"/>
                <a:ea typeface="Arial"/>
                <a:cs typeface="Arial"/>
              </a:rPr>
              <a:t>Optional MiroFish run · timed SME usability study</a:t>
            </a:r>
          </a:p>
        </p:txBody>
      </p:sp>
    </p:spTree>
    <p:extLst>
      <p:ext uri="{BB962C8B-B14F-4D97-AF65-F5344CB8AC3E}">
        <p14:creationId xmlns:p14="http://schemas.microsoft.com/office/powerpoint/2010/main" val="1648111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2026-10-24T15:30:05.5680000Z</dcterms:created>
  <dcterms:modified xsi:type="dcterms:W3CDTF">2026-10-24T15:30:05.5680000Z</dcterms:modified>
</coreProperties>
</file>